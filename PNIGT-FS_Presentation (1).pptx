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titre. Présenter le contexte : une initiative stratégique nationale pour unifier la gestion des forces de sécurité.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Expliquer pourquoi ce projet est nécessaire. Les 5 points illustrent concrètement les lacunes actuelles.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slide résume la raison d'être du projet. Insister sur l'aspect 'infrastructure stratégique nationale'.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les entités couvertes dès le départ et l'architecture ouverte permettant de l'étendre.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les 11 modules rapidement. Insister sur la couverture complète du cycle de vie de l'agent.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cloisonnement par profil est un élément clé de sécurité. Chaque utilisateur n'accède qu'aux données nécessaires à ses 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en 4 couches garantissant séparation des responsabilités, performance et sécurité.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Déploiement progressif en 5 phases. Le MVP (phase 3) permet de valider les fondamentaux avant l'enrichissement.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sécurité n'est pas une option — c'est un prérequis compte tenu de la sensibilité des données des forces de sécurité.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est un succès si ces 7 conditions sont réunies à la livraison et maintenues en exploitation.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Ce projet est une priorité nationale. Inviter les décideurs à valider le lancement.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240"/>
        </a:solidFill>
      </p:bgPr>
    </p:bg>
    <p:spTree>
      <p:nvGrpSpPr>
        <p:cNvPr id="1" name=""/>
        <p:cNvGrpSpPr/>
        <p:nvPr/>
      </p:nvGrpSpPr>
      <p:grpSpPr>
        <a:xfrm>
          <a:off x="0" y="0"/>
          <a:ext cx="0" cy="0"/>
          <a:chOff x="0" y="0"/>
          <a:chExt cx="0" cy="0"/>
        </a:xfrm>
      </p:grpSpPr>
      <p:sp>
        <p:nvSpPr>
          <p:cNvPr id="2" name="Shape 0"/>
          <p:cNvSpPr/>
          <p:nvPr/>
        </p:nvSpPr>
        <p:spPr>
          <a:xfrm>
            <a:off x="5943600" y="0"/>
            <a:ext cx="3200400" cy="5143500"/>
          </a:xfrm>
          <a:prstGeom prst="rect">
            <a:avLst/>
          </a:prstGeom>
          <a:solidFill>
            <a:srgbClr val="1A4F8A">
              <a:alpha val="55000"/>
            </a:srgbClr>
          </a:solidFill>
          <a:ln w="12700">
            <a:solidFill>
              <a:srgbClr val="1A4F8A"/>
            </a:solidFill>
            <a:prstDash val="solid"/>
          </a:ln>
        </p:spPr>
      </p:sp>
      <p:sp>
        <p:nvSpPr>
          <p:cNvPr id="3" name="Shape 1"/>
          <p:cNvSpPr/>
          <p:nvPr/>
        </p:nvSpPr>
        <p:spPr>
          <a:xfrm>
            <a:off x="7132320" y="0"/>
            <a:ext cx="2011680" cy="5143500"/>
          </a:xfrm>
          <a:prstGeom prst="rect">
            <a:avLst/>
          </a:prstGeom>
          <a:solidFill>
            <a:srgbClr val="2E7FC1">
              <a:alpha val="45000"/>
            </a:srgbClr>
          </a:solidFill>
          <a:ln w="12700">
            <a:solidFill>
              <a:srgbClr val="2E7FC1"/>
            </a:solidFill>
            <a:prstDash val="solid"/>
          </a:ln>
        </p:spPr>
      </p:sp>
      <p:sp>
        <p:nvSpPr>
          <p:cNvPr id="4" name="Shape 2"/>
          <p:cNvSpPr/>
          <p:nvPr/>
        </p:nvSpPr>
        <p:spPr>
          <a:xfrm>
            <a:off x="0" y="0"/>
            <a:ext cx="5760720" cy="73152"/>
          </a:xfrm>
          <a:prstGeom prst="rect">
            <a:avLst/>
          </a:prstGeom>
          <a:solidFill>
            <a:srgbClr val="F0A500"/>
          </a:solidFill>
          <a:ln w="12700">
            <a:solidFill>
              <a:srgbClr val="F0A500"/>
            </a:solidFill>
            <a:prstDash val="solid"/>
          </a:ln>
        </p:spPr>
      </p:sp>
      <p:sp>
        <p:nvSpPr>
          <p:cNvPr id="5" name="Shape 3"/>
          <p:cNvSpPr/>
          <p:nvPr/>
        </p:nvSpPr>
        <p:spPr>
          <a:xfrm>
            <a:off x="411480" y="457200"/>
            <a:ext cx="1920240" cy="502920"/>
          </a:xfrm>
          <a:prstGeom prst="roundRect">
            <a:avLst>
              <a:gd name="adj" fmla="val 12727"/>
            </a:avLst>
          </a:prstGeom>
          <a:solidFill>
            <a:srgbClr val="F0A500"/>
          </a:solidFill>
          <a:ln w="12700">
            <a:solidFill>
              <a:srgbClr val="F0A500"/>
            </a:solidFill>
            <a:prstDash val="solid"/>
          </a:ln>
        </p:spPr>
      </p:sp>
      <p:sp>
        <p:nvSpPr>
          <p:cNvPr id="6" name="Text 4"/>
          <p:cNvSpPr/>
          <p:nvPr/>
        </p:nvSpPr>
        <p:spPr>
          <a:xfrm>
            <a:off x="411480" y="457200"/>
            <a:ext cx="1920240" cy="502920"/>
          </a:xfrm>
          <a:prstGeom prst="rect">
            <a:avLst/>
          </a:prstGeom>
          <a:noFill/>
          <a:ln/>
        </p:spPr>
        <p:txBody>
          <a:bodyPr wrap="square" lIns="0" tIns="0" rIns="0" bIns="0" rtlCol="0" anchor="ctr"/>
          <a:lstStyle/>
          <a:p>
            <a:pPr algn="ctr" indent="0" marL="0">
              <a:buNone/>
            </a:pPr>
            <a:r>
              <a:rPr lang="en-US" sz="1600" b="1" dirty="0">
                <a:solidFill>
                  <a:srgbClr val="0D2240"/>
                </a:solidFill>
                <a:latin typeface="Cambria" pitchFamily="34" charset="0"/>
                <a:ea typeface="Cambria" pitchFamily="34" charset="-122"/>
                <a:cs typeface="Cambria" pitchFamily="34" charset="-120"/>
              </a:rPr>
              <a:t>PNIGT-FS</a:t>
            </a:r>
            <a:endParaRPr lang="en-US" sz="1600" dirty="0"/>
          </a:p>
        </p:txBody>
      </p:sp>
      <p:sp>
        <p:nvSpPr>
          <p:cNvPr id="7" name="Text 5"/>
          <p:cNvSpPr/>
          <p:nvPr/>
        </p:nvSpPr>
        <p:spPr>
          <a:xfrm>
            <a:off x="411480" y="1143000"/>
            <a:ext cx="5486400" cy="2194560"/>
          </a:xfrm>
          <a:prstGeom prst="rect">
            <a:avLst/>
          </a:prstGeom>
          <a:noFill/>
          <a:ln/>
        </p:spPr>
        <p:txBody>
          <a:bodyPr wrap="square" lIns="0" tIns="0" rIns="0" bIns="0" rtlCol="0" anchor="t"/>
          <a:lstStyle/>
          <a:p>
            <a:pPr algn="l" indent="0" marL="0">
              <a:buNone/>
            </a:pPr>
            <a:r>
              <a:rPr lang="en-US" sz="3000" b="1" dirty="0">
                <a:solidFill>
                  <a:srgbClr val="FFFFFF"/>
                </a:solidFill>
                <a:latin typeface="Cambria" pitchFamily="34" charset="0"/>
                <a:ea typeface="Cambria" pitchFamily="34" charset="-122"/>
                <a:cs typeface="Cambria" pitchFamily="34" charset="-120"/>
              </a:rPr>
              <a:t>Plateforme Nationale Intelligente</a:t>
            </a:r>
            <a:endParaRPr lang="en-US" sz="3000" dirty="0"/>
          </a:p>
          <a:p>
            <a:pPr algn="l" indent="0" marL="0">
              <a:buNone/>
            </a:pPr>
            <a:r>
              <a:rPr lang="en-US" sz="3000" b="1" dirty="0">
                <a:solidFill>
                  <a:srgbClr val="FFFFFF"/>
                </a:solidFill>
                <a:latin typeface="Cambria" pitchFamily="34" charset="0"/>
                <a:ea typeface="Cambria" pitchFamily="34" charset="-122"/>
                <a:cs typeface="Cambria" pitchFamily="34" charset="-120"/>
              </a:rPr>
              <a:t>de Gestion et de Traçabilité</a:t>
            </a:r>
            <a:endParaRPr lang="en-US" sz="3000" dirty="0"/>
          </a:p>
          <a:p>
            <a:pPr algn="l" indent="0" marL="0">
              <a:buNone/>
            </a:pPr>
            <a:r>
              <a:rPr lang="en-US" sz="3000" b="1" dirty="0">
                <a:solidFill>
                  <a:srgbClr val="FFFFFF"/>
                </a:solidFill>
                <a:latin typeface="Cambria" pitchFamily="34" charset="0"/>
                <a:ea typeface="Cambria" pitchFamily="34" charset="-122"/>
                <a:cs typeface="Cambria" pitchFamily="34" charset="-120"/>
              </a:rPr>
              <a:t>des Forces de Sécurité</a:t>
            </a:r>
            <a:endParaRPr lang="en-US" sz="3000" dirty="0"/>
          </a:p>
        </p:txBody>
      </p:sp>
      <p:sp>
        <p:nvSpPr>
          <p:cNvPr id="8" name="Text 6"/>
          <p:cNvSpPr/>
          <p:nvPr/>
        </p:nvSpPr>
        <p:spPr>
          <a:xfrm>
            <a:off x="411480" y="3474720"/>
            <a:ext cx="5303520" cy="365760"/>
          </a:xfrm>
          <a:prstGeom prst="rect">
            <a:avLst/>
          </a:prstGeom>
          <a:noFill/>
          <a:ln/>
        </p:spPr>
        <p:txBody>
          <a:bodyPr wrap="square" lIns="0" tIns="0" rIns="0" bIns="0" rtlCol="0" anchor="ctr"/>
          <a:lstStyle/>
          <a:p>
            <a:pPr algn="l" indent="0" marL="0">
              <a:buNone/>
            </a:pPr>
            <a:r>
              <a:rPr lang="en-US" sz="1300" i="1" dirty="0">
                <a:solidFill>
                  <a:srgbClr val="D6E8F8"/>
                </a:solidFill>
              </a:rPr>
              <a:t>Côte d'Ivoire – Projet de modernisation numérique</a:t>
            </a:r>
            <a:endParaRPr lang="en-US" sz="1300" dirty="0"/>
          </a:p>
        </p:txBody>
      </p:sp>
      <p:sp>
        <p:nvSpPr>
          <p:cNvPr id="9" name="Shape 7"/>
          <p:cNvSpPr/>
          <p:nvPr/>
        </p:nvSpPr>
        <p:spPr>
          <a:xfrm>
            <a:off x="411480" y="3337560"/>
            <a:ext cx="4114800" cy="36576"/>
          </a:xfrm>
          <a:prstGeom prst="rect">
            <a:avLst/>
          </a:prstGeom>
          <a:solidFill>
            <a:srgbClr val="F0A500">
              <a:alpha val="70000"/>
            </a:srgbClr>
          </a:solidFill>
          <a:ln w="12700">
            <a:solidFill>
              <a:srgbClr val="F0A500"/>
            </a:solidFill>
            <a:prstDash val="solid"/>
          </a:ln>
        </p:spPr>
      </p:sp>
      <p:sp>
        <p:nvSpPr>
          <p:cNvPr id="10" name="Text 8"/>
          <p:cNvSpPr/>
          <p:nvPr/>
        </p:nvSpPr>
        <p:spPr>
          <a:xfrm>
            <a:off x="411480" y="4572000"/>
            <a:ext cx="5486400" cy="320040"/>
          </a:xfrm>
          <a:prstGeom prst="rect">
            <a:avLst/>
          </a:prstGeom>
          <a:noFill/>
          <a:ln/>
        </p:spPr>
        <p:txBody>
          <a:bodyPr wrap="square" lIns="0" tIns="0" rIns="0" bIns="0" rtlCol="0" anchor="ctr"/>
          <a:lstStyle/>
          <a:p>
            <a:pPr algn="l" indent="0" marL="0">
              <a:buNone/>
            </a:pPr>
            <a:r>
              <a:rPr lang="en-US" sz="1000" dirty="0">
                <a:solidFill>
                  <a:srgbClr val="8DB8D8"/>
                </a:solidFill>
              </a:rPr>
              <a:t>Ministère de la Défense  •  Ministère de l'Intérieur et de la Sécurité</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411480" y="164592"/>
            <a:ext cx="2011680" cy="292608"/>
          </a:xfrm>
          <a:prstGeom prst="roundRect">
            <a:avLst>
              <a:gd name="adj" fmla="val 18750"/>
            </a:avLst>
          </a:prstGeom>
          <a:solidFill>
            <a:srgbClr val="2E7FC1"/>
          </a:solidFill>
          <a:ln w="12700">
            <a:solidFill>
              <a:srgbClr val="2E7FC1"/>
            </a:solidFill>
            <a:prstDash val="solid"/>
          </a:ln>
        </p:spPr>
      </p:sp>
      <p:sp>
        <p:nvSpPr>
          <p:cNvPr id="3" name="Text 1"/>
          <p:cNvSpPr/>
          <p:nvPr/>
        </p:nvSpPr>
        <p:spPr>
          <a:xfrm>
            <a:off x="411480" y="164592"/>
            <a:ext cx="2011680" cy="292608"/>
          </a:xfrm>
          <a:prstGeom prst="rect">
            <a:avLst/>
          </a:prstGeom>
          <a:noFill/>
          <a:ln/>
        </p:spPr>
        <p:txBody>
          <a:bodyPr wrap="square" lIns="0" tIns="0" rIns="0" bIns="0" rtlCol="0" anchor="ctr"/>
          <a:lstStyle/>
          <a:p>
            <a:pPr algn="ctr" indent="0" marL="0">
              <a:buNone/>
            </a:pPr>
            <a:r>
              <a:rPr lang="en-US" sz="800" b="1" dirty="0">
                <a:solidFill>
                  <a:srgbClr val="FFFFFF"/>
                </a:solidFill>
              </a:rPr>
              <a:t>CONTEXTE</a:t>
            </a:r>
            <a:endParaRPr lang="en-US" sz="800" dirty="0"/>
          </a:p>
        </p:txBody>
      </p:sp>
      <p:sp>
        <p:nvSpPr>
          <p:cNvPr id="4" name="Text 2"/>
          <p:cNvSpPr/>
          <p:nvPr/>
        </p:nvSpPr>
        <p:spPr>
          <a:xfrm>
            <a:off x="411480" y="548640"/>
            <a:ext cx="8321040" cy="594360"/>
          </a:xfrm>
          <a:prstGeom prst="rect">
            <a:avLst/>
          </a:prstGeom>
          <a:noFill/>
          <a:ln/>
        </p:spPr>
        <p:txBody>
          <a:bodyPr wrap="square" lIns="0" tIns="0" rIns="0" bIns="0" rtlCol="0" anchor="ctr"/>
          <a:lstStyle/>
          <a:p>
            <a:pPr algn="l" indent="0" marL="0">
              <a:buNone/>
            </a:pPr>
            <a:r>
              <a:rPr lang="en-US" sz="2800" b="1" dirty="0">
                <a:solidFill>
                  <a:srgbClr val="0D2240"/>
                </a:solidFill>
                <a:latin typeface="Cambria" pitchFamily="34" charset="0"/>
                <a:ea typeface="Cambria" pitchFamily="34" charset="-122"/>
                <a:cs typeface="Cambria" pitchFamily="34" charset="-120"/>
              </a:rPr>
              <a:t>Problématique actuelle</a:t>
            </a:r>
            <a:endParaRPr lang="en-US" sz="2800" dirty="0"/>
          </a:p>
        </p:txBody>
      </p:sp>
      <p:sp>
        <p:nvSpPr>
          <p:cNvPr id="5" name="Text 3"/>
          <p:cNvSpPr/>
          <p:nvPr/>
        </p:nvSpPr>
        <p:spPr>
          <a:xfrm>
            <a:off x="411480" y="1280160"/>
            <a:ext cx="8321040" cy="457200"/>
          </a:xfrm>
          <a:prstGeom prst="rect">
            <a:avLst/>
          </a:prstGeom>
          <a:noFill/>
          <a:ln/>
        </p:spPr>
        <p:txBody>
          <a:bodyPr wrap="square" lIns="0" tIns="0" rIns="0" bIns="0" rtlCol="0" anchor="t"/>
          <a:lstStyle/>
          <a:p>
            <a:pPr algn="l" indent="0" marL="0">
              <a:buNone/>
            </a:pPr>
            <a:r>
              <a:rPr lang="en-US" sz="1200" i="1" dirty="0">
                <a:solidFill>
                  <a:srgbClr val="64748B"/>
                </a:solidFill>
              </a:rPr>
              <a:t>La gestion des agents des forces de sécurité (Police, Gendarmerie, Armée, Sapeurs-Pompiers) est aujourd'hui fragmentée et non interconnectée.</a:t>
            </a:r>
            <a:endParaRPr lang="en-US" sz="1200" dirty="0"/>
          </a:p>
        </p:txBody>
      </p:sp>
      <p:sp>
        <p:nvSpPr>
          <p:cNvPr id="6" name="Shape 4"/>
          <p:cNvSpPr/>
          <p:nvPr/>
        </p:nvSpPr>
        <p:spPr>
          <a:xfrm>
            <a:off x="411480" y="1828800"/>
            <a:ext cx="3931920" cy="914400"/>
          </a:xfrm>
          <a:prstGeom prst="roundRect">
            <a:avLst>
              <a:gd name="adj" fmla="val 8000"/>
            </a:avLst>
          </a:prstGeom>
          <a:solidFill>
            <a:srgbClr val="FFFFFF"/>
          </a:solidFill>
          <a:ln w="6350">
            <a:solidFill>
              <a:srgbClr val="D6E8F8"/>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76072" y="1901952"/>
            <a:ext cx="3703320" cy="292608"/>
          </a:xfrm>
          <a:prstGeom prst="rect">
            <a:avLst/>
          </a:prstGeom>
          <a:noFill/>
          <a:ln/>
        </p:spPr>
        <p:txBody>
          <a:bodyPr wrap="square" lIns="0" tIns="0" rIns="0" bIns="0" rtlCol="0" anchor="t"/>
          <a:lstStyle/>
          <a:p>
            <a:pPr algn="l" indent="0" marL="0">
              <a:buNone/>
            </a:pPr>
            <a:r>
              <a:rPr lang="en-US" sz="1100" b="1" dirty="0">
                <a:solidFill>
                  <a:srgbClr val="0D2240"/>
                </a:solidFill>
              </a:rPr>
              <a:t>⚠  Données dispersées</a:t>
            </a:r>
            <a:endParaRPr lang="en-US" sz="1100" dirty="0"/>
          </a:p>
        </p:txBody>
      </p:sp>
      <p:sp>
        <p:nvSpPr>
          <p:cNvPr id="8" name="Text 6"/>
          <p:cNvSpPr/>
          <p:nvPr/>
        </p:nvSpPr>
        <p:spPr>
          <a:xfrm>
            <a:off x="576072" y="2194560"/>
            <a:ext cx="3657600" cy="457200"/>
          </a:xfrm>
          <a:prstGeom prst="rect">
            <a:avLst/>
          </a:prstGeom>
          <a:noFill/>
          <a:ln/>
        </p:spPr>
        <p:txBody>
          <a:bodyPr wrap="square" lIns="0" tIns="0" rIns="0" bIns="0" rtlCol="0" anchor="t"/>
          <a:lstStyle/>
          <a:p>
            <a:pPr algn="l" indent="0" marL="0">
              <a:buNone/>
            </a:pPr>
            <a:r>
              <a:rPr lang="en-US" sz="1000" dirty="0">
                <a:solidFill>
                  <a:srgbClr val="64748B"/>
                </a:solidFill>
              </a:rPr>
              <a:t>Dossiers papier, fichiers isolés, archives physiques non connectés</a:t>
            </a:r>
            <a:endParaRPr lang="en-US" sz="1000" dirty="0"/>
          </a:p>
        </p:txBody>
      </p:sp>
      <p:sp>
        <p:nvSpPr>
          <p:cNvPr id="9" name="Shape 7"/>
          <p:cNvSpPr/>
          <p:nvPr/>
        </p:nvSpPr>
        <p:spPr>
          <a:xfrm>
            <a:off x="4617720" y="1828800"/>
            <a:ext cx="3931920" cy="914400"/>
          </a:xfrm>
          <a:prstGeom prst="roundRect">
            <a:avLst>
              <a:gd name="adj" fmla="val 8000"/>
            </a:avLst>
          </a:prstGeom>
          <a:solidFill>
            <a:srgbClr val="FFFFFF"/>
          </a:solidFill>
          <a:ln w="6350">
            <a:solidFill>
              <a:srgbClr val="D6E8F8"/>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4782312" y="1901952"/>
            <a:ext cx="3703320" cy="292608"/>
          </a:xfrm>
          <a:prstGeom prst="rect">
            <a:avLst/>
          </a:prstGeom>
          <a:noFill/>
          <a:ln/>
        </p:spPr>
        <p:txBody>
          <a:bodyPr wrap="square" lIns="0" tIns="0" rIns="0" bIns="0" rtlCol="0" anchor="t"/>
          <a:lstStyle/>
          <a:p>
            <a:pPr algn="l" indent="0" marL="0">
              <a:buNone/>
            </a:pPr>
            <a:r>
              <a:rPr lang="en-US" sz="1100" b="1" dirty="0">
                <a:solidFill>
                  <a:srgbClr val="0D2240"/>
                </a:solidFill>
              </a:rPr>
              <a:t>🕐  Lenteur administrative</a:t>
            </a:r>
            <a:endParaRPr lang="en-US" sz="1100" dirty="0"/>
          </a:p>
        </p:txBody>
      </p:sp>
      <p:sp>
        <p:nvSpPr>
          <p:cNvPr id="11" name="Text 9"/>
          <p:cNvSpPr/>
          <p:nvPr/>
        </p:nvSpPr>
        <p:spPr>
          <a:xfrm>
            <a:off x="4782312" y="2194560"/>
            <a:ext cx="3657600" cy="457200"/>
          </a:xfrm>
          <a:prstGeom prst="rect">
            <a:avLst/>
          </a:prstGeom>
          <a:noFill/>
          <a:ln/>
        </p:spPr>
        <p:txBody>
          <a:bodyPr wrap="square" lIns="0" tIns="0" rIns="0" bIns="0" rtlCol="0" anchor="t"/>
          <a:lstStyle/>
          <a:p>
            <a:pPr algn="l" indent="0" marL="0">
              <a:buNone/>
            </a:pPr>
            <a:r>
              <a:rPr lang="en-US" sz="1000" dirty="0">
                <a:solidFill>
                  <a:srgbClr val="64748B"/>
                </a:solidFill>
              </a:rPr>
              <a:t>Consultation et vérification des dossiers trop lentes</a:t>
            </a:r>
            <a:endParaRPr lang="en-US" sz="1000" dirty="0"/>
          </a:p>
        </p:txBody>
      </p:sp>
      <p:sp>
        <p:nvSpPr>
          <p:cNvPr id="12" name="Shape 10"/>
          <p:cNvSpPr/>
          <p:nvPr/>
        </p:nvSpPr>
        <p:spPr>
          <a:xfrm>
            <a:off x="411480" y="3017520"/>
            <a:ext cx="3931920" cy="914400"/>
          </a:xfrm>
          <a:prstGeom prst="roundRect">
            <a:avLst>
              <a:gd name="adj" fmla="val 8000"/>
            </a:avLst>
          </a:prstGeom>
          <a:solidFill>
            <a:srgbClr val="FFFFFF"/>
          </a:solidFill>
          <a:ln w="6350">
            <a:solidFill>
              <a:srgbClr val="D6E8F8"/>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576072" y="3090672"/>
            <a:ext cx="3703320" cy="292608"/>
          </a:xfrm>
          <a:prstGeom prst="rect">
            <a:avLst/>
          </a:prstGeom>
          <a:noFill/>
          <a:ln/>
        </p:spPr>
        <p:txBody>
          <a:bodyPr wrap="square" lIns="0" tIns="0" rIns="0" bIns="0" rtlCol="0" anchor="t"/>
          <a:lstStyle/>
          <a:p>
            <a:pPr algn="l" indent="0" marL="0">
              <a:buNone/>
            </a:pPr>
            <a:r>
              <a:rPr lang="en-US" sz="1100" b="1" dirty="0">
                <a:solidFill>
                  <a:srgbClr val="0D2240"/>
                </a:solidFill>
              </a:rPr>
              <a:t>❌  Risques élevés</a:t>
            </a:r>
            <a:endParaRPr lang="en-US" sz="1100" dirty="0"/>
          </a:p>
        </p:txBody>
      </p:sp>
      <p:sp>
        <p:nvSpPr>
          <p:cNvPr id="14" name="Text 12"/>
          <p:cNvSpPr/>
          <p:nvPr/>
        </p:nvSpPr>
        <p:spPr>
          <a:xfrm>
            <a:off x="576072" y="3383280"/>
            <a:ext cx="3657600" cy="457200"/>
          </a:xfrm>
          <a:prstGeom prst="rect">
            <a:avLst/>
          </a:prstGeom>
          <a:noFill/>
          <a:ln/>
        </p:spPr>
        <p:txBody>
          <a:bodyPr wrap="square" lIns="0" tIns="0" rIns="0" bIns="0" rtlCol="0" anchor="t"/>
          <a:lstStyle/>
          <a:p>
            <a:pPr algn="l" indent="0" marL="0">
              <a:buNone/>
            </a:pPr>
            <a:r>
              <a:rPr lang="en-US" sz="1000" dirty="0">
                <a:solidFill>
                  <a:srgbClr val="64748B"/>
                </a:solidFill>
              </a:rPr>
              <a:t>Pertes, erreurs et doublons fréquents dans les données agents</a:t>
            </a:r>
            <a:endParaRPr lang="en-US" sz="1000" dirty="0"/>
          </a:p>
        </p:txBody>
      </p:sp>
      <p:sp>
        <p:nvSpPr>
          <p:cNvPr id="15" name="Shape 13"/>
          <p:cNvSpPr/>
          <p:nvPr/>
        </p:nvSpPr>
        <p:spPr>
          <a:xfrm>
            <a:off x="4617720" y="3017520"/>
            <a:ext cx="3931920" cy="914400"/>
          </a:xfrm>
          <a:prstGeom prst="roundRect">
            <a:avLst>
              <a:gd name="adj" fmla="val 8000"/>
            </a:avLst>
          </a:prstGeom>
          <a:solidFill>
            <a:srgbClr val="FFFFFF"/>
          </a:solidFill>
          <a:ln w="6350">
            <a:solidFill>
              <a:srgbClr val="D6E8F8"/>
            </a:solidFill>
            <a:prstDash val="solid"/>
          </a:ln>
          <a:effectLst>
            <a:outerShdw sx="100000" sy="100000" kx="0" ky="0" algn="bl" rotWithShape="0" blurRad="101600" dist="38100" dir="2700000">
              <a:srgbClr val="000000">
                <a:alpha val="12000"/>
              </a:srgbClr>
            </a:outerShdw>
          </a:effectLst>
        </p:spPr>
      </p:sp>
      <p:sp>
        <p:nvSpPr>
          <p:cNvPr id="16" name="Text 14"/>
          <p:cNvSpPr/>
          <p:nvPr/>
        </p:nvSpPr>
        <p:spPr>
          <a:xfrm>
            <a:off x="4782312" y="3090672"/>
            <a:ext cx="3703320" cy="292608"/>
          </a:xfrm>
          <a:prstGeom prst="rect">
            <a:avLst/>
          </a:prstGeom>
          <a:noFill/>
          <a:ln/>
        </p:spPr>
        <p:txBody>
          <a:bodyPr wrap="square" lIns="0" tIns="0" rIns="0" bIns="0" rtlCol="0" anchor="t"/>
          <a:lstStyle/>
          <a:p>
            <a:pPr algn="l" indent="0" marL="0">
              <a:buNone/>
            </a:pPr>
            <a:r>
              <a:rPr lang="en-US" sz="1100" b="1" dirty="0">
                <a:solidFill>
                  <a:srgbClr val="0D2240"/>
                </a:solidFill>
              </a:rPr>
              <a:t>🔍  Manque de traçabilité</a:t>
            </a:r>
            <a:endParaRPr lang="en-US" sz="1100" dirty="0"/>
          </a:p>
        </p:txBody>
      </p:sp>
      <p:sp>
        <p:nvSpPr>
          <p:cNvPr id="17" name="Text 15"/>
          <p:cNvSpPr/>
          <p:nvPr/>
        </p:nvSpPr>
        <p:spPr>
          <a:xfrm>
            <a:off x="4782312" y="3383280"/>
            <a:ext cx="3657600" cy="457200"/>
          </a:xfrm>
          <a:prstGeom prst="rect">
            <a:avLst/>
          </a:prstGeom>
          <a:noFill/>
          <a:ln/>
        </p:spPr>
        <p:txBody>
          <a:bodyPr wrap="square" lIns="0" tIns="0" rIns="0" bIns="0" rtlCol="0" anchor="t"/>
          <a:lstStyle/>
          <a:p>
            <a:pPr algn="l" indent="0" marL="0">
              <a:buNone/>
            </a:pPr>
            <a:r>
              <a:rPr lang="en-US" sz="1000" dirty="0">
                <a:solidFill>
                  <a:srgbClr val="64748B"/>
                </a:solidFill>
              </a:rPr>
              <a:t>Grades, affectations, formations sans historique fiable</a:t>
            </a:r>
            <a:endParaRPr lang="en-US" sz="1000" dirty="0"/>
          </a:p>
        </p:txBody>
      </p:sp>
      <p:sp>
        <p:nvSpPr>
          <p:cNvPr id="18" name="Shape 16"/>
          <p:cNvSpPr/>
          <p:nvPr/>
        </p:nvSpPr>
        <p:spPr>
          <a:xfrm>
            <a:off x="411480" y="4206240"/>
            <a:ext cx="3931920" cy="914400"/>
          </a:xfrm>
          <a:prstGeom prst="roundRect">
            <a:avLst>
              <a:gd name="adj" fmla="val 8000"/>
            </a:avLst>
          </a:prstGeom>
          <a:solidFill>
            <a:srgbClr val="FFFFFF"/>
          </a:solidFill>
          <a:ln w="6350">
            <a:solidFill>
              <a:srgbClr val="D6E8F8"/>
            </a:solidFill>
            <a:prstDash val="solid"/>
          </a:ln>
          <a:effectLst>
            <a:outerShdw sx="100000" sy="100000" kx="0" ky="0" algn="bl" rotWithShape="0" blurRad="101600" dist="38100" dir="2700000">
              <a:srgbClr val="000000">
                <a:alpha val="12000"/>
              </a:srgbClr>
            </a:outerShdw>
          </a:effectLst>
        </p:spPr>
      </p:sp>
      <p:sp>
        <p:nvSpPr>
          <p:cNvPr id="19" name="Text 17"/>
          <p:cNvSpPr/>
          <p:nvPr/>
        </p:nvSpPr>
        <p:spPr>
          <a:xfrm>
            <a:off x="576072" y="4279392"/>
            <a:ext cx="3703320" cy="292608"/>
          </a:xfrm>
          <a:prstGeom prst="rect">
            <a:avLst/>
          </a:prstGeom>
          <a:noFill/>
          <a:ln/>
        </p:spPr>
        <p:txBody>
          <a:bodyPr wrap="square" lIns="0" tIns="0" rIns="0" bIns="0" rtlCol="0" anchor="t"/>
          <a:lstStyle/>
          <a:p>
            <a:pPr algn="l" indent="0" marL="0">
              <a:buNone/>
            </a:pPr>
            <a:r>
              <a:rPr lang="en-US" sz="1100" b="1" dirty="0">
                <a:solidFill>
                  <a:srgbClr val="0D2240"/>
                </a:solidFill>
              </a:rPr>
              <a:t>📊  Absence de pilotage</a:t>
            </a:r>
            <a:endParaRPr lang="en-US" sz="1100" dirty="0"/>
          </a:p>
        </p:txBody>
      </p:sp>
      <p:sp>
        <p:nvSpPr>
          <p:cNvPr id="20" name="Text 18"/>
          <p:cNvSpPr/>
          <p:nvPr/>
        </p:nvSpPr>
        <p:spPr>
          <a:xfrm>
            <a:off x="576072" y="4572000"/>
            <a:ext cx="3657600" cy="457200"/>
          </a:xfrm>
          <a:prstGeom prst="rect">
            <a:avLst/>
          </a:prstGeom>
          <a:noFill/>
          <a:ln/>
        </p:spPr>
        <p:txBody>
          <a:bodyPr wrap="square" lIns="0" tIns="0" rIns="0" bIns="0" rtlCol="0" anchor="t"/>
          <a:lstStyle/>
          <a:p>
            <a:pPr algn="l" indent="0" marL="0">
              <a:buNone/>
            </a:pPr>
            <a:r>
              <a:rPr lang="en-US" sz="1000" dirty="0">
                <a:solidFill>
                  <a:srgbClr val="64748B"/>
                </a:solidFill>
              </a:rPr>
              <a:t>Pas d'indicateurs fiables pour aider à la décision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2240"/>
        </a:solidFill>
      </p:bgPr>
    </p:bg>
    <p:spTree>
      <p:nvGrpSpPr>
        <p:cNvPr id="1" name=""/>
        <p:cNvGrpSpPr/>
        <p:nvPr/>
      </p:nvGrpSpPr>
      <p:grpSpPr>
        <a:xfrm>
          <a:off x="0" y="0"/>
          <a:ext cx="0" cy="0"/>
          <a:chOff x="0" y="0"/>
          <a:chExt cx="0" cy="0"/>
        </a:xfrm>
      </p:grpSpPr>
      <p:sp>
        <p:nvSpPr>
          <p:cNvPr id="2" name="Shape 0"/>
          <p:cNvSpPr/>
          <p:nvPr/>
        </p:nvSpPr>
        <p:spPr>
          <a:xfrm>
            <a:off x="411480" y="164592"/>
            <a:ext cx="2011680" cy="292608"/>
          </a:xfrm>
          <a:prstGeom prst="roundRect">
            <a:avLst>
              <a:gd name="adj" fmla="val 18750"/>
            </a:avLst>
          </a:prstGeom>
          <a:solidFill>
            <a:srgbClr val="F0A500"/>
          </a:solidFill>
          <a:ln w="12700">
            <a:solidFill>
              <a:srgbClr val="F0A500"/>
            </a:solidFill>
            <a:prstDash val="solid"/>
          </a:ln>
        </p:spPr>
      </p:sp>
      <p:sp>
        <p:nvSpPr>
          <p:cNvPr id="3" name="Text 1"/>
          <p:cNvSpPr/>
          <p:nvPr/>
        </p:nvSpPr>
        <p:spPr>
          <a:xfrm>
            <a:off x="411480" y="164592"/>
            <a:ext cx="2011680" cy="292608"/>
          </a:xfrm>
          <a:prstGeom prst="rect">
            <a:avLst/>
          </a:prstGeom>
          <a:noFill/>
          <a:ln/>
        </p:spPr>
        <p:txBody>
          <a:bodyPr wrap="square" lIns="0" tIns="0" rIns="0" bIns="0" rtlCol="0" anchor="ctr"/>
          <a:lstStyle/>
          <a:p>
            <a:pPr algn="ctr" indent="0" marL="0">
              <a:buNone/>
            </a:pPr>
            <a:r>
              <a:rPr lang="en-US" sz="800" b="1" dirty="0">
                <a:solidFill>
                  <a:srgbClr val="FFFFFF"/>
                </a:solidFill>
              </a:rPr>
              <a:t>VISION</a:t>
            </a:r>
            <a:endParaRPr lang="en-US" sz="800" dirty="0"/>
          </a:p>
        </p:txBody>
      </p:sp>
      <p:sp>
        <p:nvSpPr>
          <p:cNvPr id="4" name="Text 2"/>
          <p:cNvSpPr/>
          <p:nvPr/>
        </p:nvSpPr>
        <p:spPr>
          <a:xfrm>
            <a:off x="411480" y="548640"/>
            <a:ext cx="832104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Vision &amp; Objectif général</a:t>
            </a:r>
            <a:endParaRPr lang="en-US" sz="2800" dirty="0"/>
          </a:p>
        </p:txBody>
      </p:sp>
      <p:sp>
        <p:nvSpPr>
          <p:cNvPr id="5" name="Shape 3"/>
          <p:cNvSpPr/>
          <p:nvPr/>
        </p:nvSpPr>
        <p:spPr>
          <a:xfrm>
            <a:off x="411480" y="1325880"/>
            <a:ext cx="8321040" cy="1371600"/>
          </a:xfrm>
          <a:prstGeom prst="roundRect">
            <a:avLst>
              <a:gd name="adj" fmla="val 6667"/>
            </a:avLst>
          </a:prstGeom>
          <a:solidFill>
            <a:srgbClr val="1A4F8A">
              <a:alpha val="70000"/>
            </a:srgbClr>
          </a:solidFill>
          <a:ln w="12700">
            <a:solidFill>
              <a:srgbClr val="2E7FC1"/>
            </a:solidFill>
            <a:prstDash val="solid"/>
          </a:ln>
        </p:spPr>
      </p:sp>
      <p:sp>
        <p:nvSpPr>
          <p:cNvPr id="6" name="Text 4"/>
          <p:cNvSpPr/>
          <p:nvPr/>
        </p:nvSpPr>
        <p:spPr>
          <a:xfrm>
            <a:off x="640080" y="1371600"/>
            <a:ext cx="7863840" cy="1280160"/>
          </a:xfrm>
          <a:prstGeom prst="rect">
            <a:avLst/>
          </a:prstGeom>
          <a:noFill/>
          <a:ln/>
        </p:spPr>
        <p:txBody>
          <a:bodyPr wrap="square" lIns="0" tIns="0" rIns="0" bIns="0" rtlCol="0" anchor="ctr"/>
          <a:lstStyle/>
          <a:p>
            <a:pPr algn="ctr" indent="0" marL="0">
              <a:buNone/>
            </a:pPr>
            <a:r>
              <a:rPr lang="en-US" sz="1400" i="1" dirty="0">
                <a:solidFill>
                  <a:srgbClr val="D6E8F8"/>
                </a:solidFill>
              </a:rPr>
              <a:t>Mettre à la disposition de l'État de Côte d'Ivoire une solution numérique unifiée pour suivre le parcours complet de chaque agent des forces de sécurité — de son entrée en école jusqu'à sa sortie du service.</a:t>
            </a:r>
            <a:endParaRPr lang="en-US" sz="1400" dirty="0"/>
          </a:p>
        </p:txBody>
      </p:sp>
      <p:sp>
        <p:nvSpPr>
          <p:cNvPr id="7" name="Shape 5"/>
          <p:cNvSpPr/>
          <p:nvPr/>
        </p:nvSpPr>
        <p:spPr>
          <a:xfrm>
            <a:off x="411480" y="2880360"/>
            <a:ext cx="1920240" cy="1737360"/>
          </a:xfrm>
          <a:prstGeom prst="roundRect">
            <a:avLst>
              <a:gd name="adj" fmla="val 5263"/>
            </a:avLst>
          </a:prstGeom>
          <a:solidFill>
            <a:srgbClr val="2E7FC1">
              <a:alpha val="45000"/>
            </a:srgbClr>
          </a:solidFill>
          <a:ln w="12700">
            <a:solidFill>
              <a:srgbClr val="2E7FC1"/>
            </a:solidFill>
            <a:prstDash val="solid"/>
          </a:ln>
        </p:spPr>
      </p:sp>
      <p:sp>
        <p:nvSpPr>
          <p:cNvPr id="8" name="Text 6"/>
          <p:cNvSpPr/>
          <p:nvPr/>
        </p:nvSpPr>
        <p:spPr>
          <a:xfrm>
            <a:off x="411480" y="2926080"/>
            <a:ext cx="1920240" cy="64008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9" name="Text 7"/>
          <p:cNvSpPr/>
          <p:nvPr/>
        </p:nvSpPr>
        <p:spPr>
          <a:xfrm>
            <a:off x="411480" y="3611880"/>
            <a:ext cx="1920240" cy="822960"/>
          </a:xfrm>
          <a:prstGeom prst="rect">
            <a:avLst/>
          </a:prstGeom>
          <a:noFill/>
          <a:ln/>
        </p:spPr>
        <p:txBody>
          <a:bodyPr wrap="square" lIns="0" tIns="0" rIns="0" bIns="0" rtlCol="0" anchor="t"/>
          <a:lstStyle/>
          <a:p>
            <a:pPr algn="ctr" indent="0" marL="0">
              <a:buNone/>
            </a:pPr>
            <a:r>
              <a:rPr lang="en-US" sz="1100" b="1" dirty="0">
                <a:solidFill>
                  <a:srgbClr val="FFFFFF"/>
                </a:solidFill>
              </a:rPr>
              <a:t>Identification</a:t>
            </a:r>
            <a:endParaRPr lang="en-US" sz="1100" dirty="0"/>
          </a:p>
          <a:p>
            <a:pPr algn="ctr" indent="0" marL="0">
              <a:buNone/>
            </a:pPr>
            <a:r>
              <a:rPr lang="en-US" sz="1100" b="1" dirty="0">
                <a:solidFill>
                  <a:srgbClr val="FFFFFF"/>
                </a:solidFill>
              </a:rPr>
              <a:t>unique</a:t>
            </a:r>
            <a:endParaRPr lang="en-US" sz="1100" dirty="0"/>
          </a:p>
        </p:txBody>
      </p:sp>
      <p:sp>
        <p:nvSpPr>
          <p:cNvPr id="10" name="Shape 8"/>
          <p:cNvSpPr/>
          <p:nvPr/>
        </p:nvSpPr>
        <p:spPr>
          <a:xfrm>
            <a:off x="2606040" y="2880360"/>
            <a:ext cx="1920240" cy="1737360"/>
          </a:xfrm>
          <a:prstGeom prst="roundRect">
            <a:avLst>
              <a:gd name="adj" fmla="val 5263"/>
            </a:avLst>
          </a:prstGeom>
          <a:solidFill>
            <a:srgbClr val="2E7FC1">
              <a:alpha val="45000"/>
            </a:srgbClr>
          </a:solidFill>
          <a:ln w="12700">
            <a:solidFill>
              <a:srgbClr val="2E7FC1"/>
            </a:solidFill>
            <a:prstDash val="solid"/>
          </a:ln>
        </p:spPr>
      </p:sp>
      <p:sp>
        <p:nvSpPr>
          <p:cNvPr id="11" name="Text 9"/>
          <p:cNvSpPr/>
          <p:nvPr/>
        </p:nvSpPr>
        <p:spPr>
          <a:xfrm>
            <a:off x="2606040" y="2926080"/>
            <a:ext cx="1920240" cy="64008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2" name="Text 10"/>
          <p:cNvSpPr/>
          <p:nvPr/>
        </p:nvSpPr>
        <p:spPr>
          <a:xfrm>
            <a:off x="2606040" y="3611880"/>
            <a:ext cx="1920240" cy="822960"/>
          </a:xfrm>
          <a:prstGeom prst="rect">
            <a:avLst/>
          </a:prstGeom>
          <a:noFill/>
          <a:ln/>
        </p:spPr>
        <p:txBody>
          <a:bodyPr wrap="square" lIns="0" tIns="0" rIns="0" bIns="0" rtlCol="0" anchor="t"/>
          <a:lstStyle/>
          <a:p>
            <a:pPr algn="ctr" indent="0" marL="0">
              <a:buNone/>
            </a:pPr>
            <a:r>
              <a:rPr lang="en-US" sz="1100" b="1" dirty="0">
                <a:solidFill>
                  <a:srgbClr val="FFFFFF"/>
                </a:solidFill>
              </a:rPr>
              <a:t>Suivi de</a:t>
            </a:r>
            <a:endParaRPr lang="en-US" sz="1100" dirty="0"/>
          </a:p>
          <a:p>
            <a:pPr algn="ctr" indent="0" marL="0">
              <a:buNone/>
            </a:pPr>
            <a:r>
              <a:rPr lang="en-US" sz="1100" b="1" dirty="0">
                <a:solidFill>
                  <a:srgbClr val="FFFFFF"/>
                </a:solidFill>
              </a:rPr>
              <a:t>carrière</a:t>
            </a:r>
            <a:endParaRPr lang="en-US" sz="1100" dirty="0"/>
          </a:p>
        </p:txBody>
      </p:sp>
      <p:sp>
        <p:nvSpPr>
          <p:cNvPr id="13" name="Shape 11"/>
          <p:cNvSpPr/>
          <p:nvPr/>
        </p:nvSpPr>
        <p:spPr>
          <a:xfrm>
            <a:off x="4800600" y="2880360"/>
            <a:ext cx="1920240" cy="1737360"/>
          </a:xfrm>
          <a:prstGeom prst="roundRect">
            <a:avLst>
              <a:gd name="adj" fmla="val 5263"/>
            </a:avLst>
          </a:prstGeom>
          <a:solidFill>
            <a:srgbClr val="2E7FC1">
              <a:alpha val="45000"/>
            </a:srgbClr>
          </a:solidFill>
          <a:ln w="12700">
            <a:solidFill>
              <a:srgbClr val="2E7FC1"/>
            </a:solidFill>
            <a:prstDash val="solid"/>
          </a:ln>
        </p:spPr>
      </p:sp>
      <p:sp>
        <p:nvSpPr>
          <p:cNvPr id="14" name="Text 12"/>
          <p:cNvSpPr/>
          <p:nvPr/>
        </p:nvSpPr>
        <p:spPr>
          <a:xfrm>
            <a:off x="4800600" y="2926080"/>
            <a:ext cx="1920240" cy="64008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5" name="Text 13"/>
          <p:cNvSpPr/>
          <p:nvPr/>
        </p:nvSpPr>
        <p:spPr>
          <a:xfrm>
            <a:off x="4800600" y="3611880"/>
            <a:ext cx="1920240" cy="822960"/>
          </a:xfrm>
          <a:prstGeom prst="rect">
            <a:avLst/>
          </a:prstGeom>
          <a:noFill/>
          <a:ln/>
        </p:spPr>
        <p:txBody>
          <a:bodyPr wrap="square" lIns="0" tIns="0" rIns="0" bIns="0" rtlCol="0" anchor="t"/>
          <a:lstStyle/>
          <a:p>
            <a:pPr algn="ctr" indent="0" marL="0">
              <a:buNone/>
            </a:pPr>
            <a:r>
              <a:rPr lang="en-US" sz="1100" b="1" dirty="0">
                <a:solidFill>
                  <a:srgbClr val="FFFFFF"/>
                </a:solidFill>
              </a:rPr>
              <a:t>Sécurité &amp;</a:t>
            </a:r>
            <a:endParaRPr lang="en-US" sz="1100" dirty="0"/>
          </a:p>
          <a:p>
            <a:pPr algn="ctr" indent="0" marL="0">
              <a:buNone/>
            </a:pPr>
            <a:r>
              <a:rPr lang="en-US" sz="1100" b="1" dirty="0">
                <a:solidFill>
                  <a:srgbClr val="FFFFFF"/>
                </a:solidFill>
              </a:rPr>
              <a:t>Confidentialité</a:t>
            </a:r>
            <a:endParaRPr lang="en-US" sz="1100" dirty="0"/>
          </a:p>
        </p:txBody>
      </p:sp>
      <p:sp>
        <p:nvSpPr>
          <p:cNvPr id="16" name="Shape 14"/>
          <p:cNvSpPr/>
          <p:nvPr/>
        </p:nvSpPr>
        <p:spPr>
          <a:xfrm>
            <a:off x="6995160" y="2880360"/>
            <a:ext cx="1920240" cy="1737360"/>
          </a:xfrm>
          <a:prstGeom prst="roundRect">
            <a:avLst>
              <a:gd name="adj" fmla="val 5263"/>
            </a:avLst>
          </a:prstGeom>
          <a:solidFill>
            <a:srgbClr val="2E7FC1">
              <a:alpha val="45000"/>
            </a:srgbClr>
          </a:solidFill>
          <a:ln w="12700">
            <a:solidFill>
              <a:srgbClr val="2E7FC1"/>
            </a:solidFill>
            <a:prstDash val="solid"/>
          </a:ln>
        </p:spPr>
      </p:sp>
      <p:sp>
        <p:nvSpPr>
          <p:cNvPr id="17" name="Text 15"/>
          <p:cNvSpPr/>
          <p:nvPr/>
        </p:nvSpPr>
        <p:spPr>
          <a:xfrm>
            <a:off x="6995160" y="2926080"/>
            <a:ext cx="1920240" cy="64008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8" name="Text 16"/>
          <p:cNvSpPr/>
          <p:nvPr/>
        </p:nvSpPr>
        <p:spPr>
          <a:xfrm>
            <a:off x="6995160" y="3611880"/>
            <a:ext cx="1920240" cy="822960"/>
          </a:xfrm>
          <a:prstGeom prst="rect">
            <a:avLst/>
          </a:prstGeom>
          <a:noFill/>
          <a:ln/>
        </p:spPr>
        <p:txBody>
          <a:bodyPr wrap="square" lIns="0" tIns="0" rIns="0" bIns="0" rtlCol="0" anchor="t"/>
          <a:lstStyle/>
          <a:p>
            <a:pPr algn="ctr" indent="0" marL="0">
              <a:buNone/>
            </a:pPr>
            <a:r>
              <a:rPr lang="en-US" sz="1100" b="1" dirty="0">
                <a:solidFill>
                  <a:srgbClr val="FFFFFF"/>
                </a:solidFill>
              </a:rPr>
              <a:t>Pilotage</a:t>
            </a:r>
            <a:endParaRPr lang="en-US" sz="1100" dirty="0"/>
          </a:p>
          <a:p>
            <a:pPr algn="ctr" indent="0" marL="0">
              <a:buNone/>
            </a:pPr>
            <a:r>
              <a:rPr lang="en-US" sz="1100" b="1" dirty="0">
                <a:solidFill>
                  <a:srgbClr val="FFFFFF"/>
                </a:solidFill>
              </a:rPr>
              <a:t>décisionnel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411480" y="164592"/>
            <a:ext cx="2011680" cy="292608"/>
          </a:xfrm>
          <a:prstGeom prst="roundRect">
            <a:avLst>
              <a:gd name="adj" fmla="val 18750"/>
            </a:avLst>
          </a:prstGeom>
          <a:solidFill>
            <a:srgbClr val="2E7FC1"/>
          </a:solidFill>
          <a:ln w="12700">
            <a:solidFill>
              <a:srgbClr val="2E7FC1"/>
            </a:solidFill>
            <a:prstDash val="solid"/>
          </a:ln>
        </p:spPr>
      </p:sp>
      <p:sp>
        <p:nvSpPr>
          <p:cNvPr id="3" name="Text 1"/>
          <p:cNvSpPr/>
          <p:nvPr/>
        </p:nvSpPr>
        <p:spPr>
          <a:xfrm>
            <a:off x="411480" y="164592"/>
            <a:ext cx="2011680" cy="292608"/>
          </a:xfrm>
          <a:prstGeom prst="rect">
            <a:avLst/>
          </a:prstGeom>
          <a:noFill/>
          <a:ln/>
        </p:spPr>
        <p:txBody>
          <a:bodyPr wrap="square" lIns="0" tIns="0" rIns="0" bIns="0" rtlCol="0" anchor="ctr"/>
          <a:lstStyle/>
          <a:p>
            <a:pPr algn="ctr" indent="0" marL="0">
              <a:buNone/>
            </a:pPr>
            <a:r>
              <a:rPr lang="en-US" sz="800" b="1" dirty="0">
                <a:solidFill>
                  <a:srgbClr val="FFFFFF"/>
                </a:solidFill>
              </a:rPr>
              <a:t>PÉRIMÈTRE</a:t>
            </a:r>
            <a:endParaRPr lang="en-US" sz="800" dirty="0"/>
          </a:p>
        </p:txBody>
      </p:sp>
      <p:sp>
        <p:nvSpPr>
          <p:cNvPr id="4" name="Text 2"/>
          <p:cNvSpPr/>
          <p:nvPr/>
        </p:nvSpPr>
        <p:spPr>
          <a:xfrm>
            <a:off x="411480" y="548640"/>
            <a:ext cx="8321040" cy="594360"/>
          </a:xfrm>
          <a:prstGeom prst="rect">
            <a:avLst/>
          </a:prstGeom>
          <a:noFill/>
          <a:ln/>
        </p:spPr>
        <p:txBody>
          <a:bodyPr wrap="square" lIns="0" tIns="0" rIns="0" bIns="0" rtlCol="0" anchor="ctr"/>
          <a:lstStyle/>
          <a:p>
            <a:pPr algn="l" indent="0" marL="0">
              <a:buNone/>
            </a:pPr>
            <a:r>
              <a:rPr lang="en-US" sz="2800" b="1" dirty="0">
                <a:solidFill>
                  <a:srgbClr val="0D2240"/>
                </a:solidFill>
                <a:latin typeface="Cambria" pitchFamily="34" charset="0"/>
                <a:ea typeface="Cambria" pitchFamily="34" charset="-122"/>
                <a:cs typeface="Cambria" pitchFamily="34" charset="-120"/>
              </a:rPr>
              <a:t>Corps concernés &amp; Bénéficiaires</a:t>
            </a:r>
            <a:endParaRPr lang="en-US" sz="2800" dirty="0"/>
          </a:p>
        </p:txBody>
      </p:sp>
      <p:sp>
        <p:nvSpPr>
          <p:cNvPr id="5" name="Shape 3"/>
          <p:cNvSpPr/>
          <p:nvPr/>
        </p:nvSpPr>
        <p:spPr>
          <a:xfrm>
            <a:off x="411480" y="1280160"/>
            <a:ext cx="4023360" cy="3474720"/>
          </a:xfrm>
          <a:prstGeom prst="roundRect">
            <a:avLst>
              <a:gd name="adj" fmla="val 2105"/>
            </a:avLst>
          </a:prstGeom>
          <a:solidFill>
            <a:srgbClr val="FFFFFF"/>
          </a:solidFill>
          <a:ln w="6350">
            <a:solidFill>
              <a:srgbClr val="D6E8F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417320"/>
            <a:ext cx="3657600" cy="365760"/>
          </a:xfrm>
          <a:prstGeom prst="rect">
            <a:avLst/>
          </a:prstGeom>
          <a:noFill/>
          <a:ln/>
        </p:spPr>
        <p:txBody>
          <a:bodyPr wrap="square" lIns="0" tIns="0" rIns="0" bIns="0" rtlCol="0" anchor="ctr"/>
          <a:lstStyle/>
          <a:p>
            <a:pPr algn="l" indent="0" marL="0">
              <a:buNone/>
            </a:pPr>
            <a:r>
              <a:rPr lang="en-US" sz="1300" b="1" dirty="0">
                <a:solidFill>
                  <a:srgbClr val="0D2240"/>
                </a:solidFill>
              </a:rPr>
              <a:t>🏛  Corps couverts</a:t>
            </a:r>
            <a:endParaRPr lang="en-US" sz="1300" dirty="0"/>
          </a:p>
        </p:txBody>
      </p:sp>
      <p:sp>
        <p:nvSpPr>
          <p:cNvPr id="7" name="Text 5"/>
          <p:cNvSpPr/>
          <p:nvPr/>
        </p:nvSpPr>
        <p:spPr>
          <a:xfrm>
            <a:off x="640080" y="1874520"/>
            <a:ext cx="3566160" cy="384048"/>
          </a:xfrm>
          <a:prstGeom prst="rect">
            <a:avLst/>
          </a:prstGeom>
          <a:noFill/>
          <a:ln/>
        </p:spPr>
        <p:txBody>
          <a:bodyPr wrap="square" lIns="0" tIns="0" rIns="0" bIns="0" rtlCol="0" anchor="t"/>
          <a:lstStyle/>
          <a:p>
            <a:pPr algn="l" indent="0" marL="0">
              <a:buNone/>
            </a:pPr>
            <a:r>
              <a:rPr lang="en-US" sz="1100" dirty="0">
                <a:solidFill>
                  <a:srgbClr val="64748B"/>
                </a:solidFill>
              </a:rPr>
              <a:t>›  Police Nationale</a:t>
            </a:r>
            <a:endParaRPr lang="en-US" sz="1100" dirty="0"/>
          </a:p>
        </p:txBody>
      </p:sp>
      <p:sp>
        <p:nvSpPr>
          <p:cNvPr id="8" name="Text 6"/>
          <p:cNvSpPr/>
          <p:nvPr/>
        </p:nvSpPr>
        <p:spPr>
          <a:xfrm>
            <a:off x="640080" y="2313432"/>
            <a:ext cx="3566160" cy="384048"/>
          </a:xfrm>
          <a:prstGeom prst="rect">
            <a:avLst/>
          </a:prstGeom>
          <a:noFill/>
          <a:ln/>
        </p:spPr>
        <p:txBody>
          <a:bodyPr wrap="square" lIns="0" tIns="0" rIns="0" bIns="0" rtlCol="0" anchor="t"/>
          <a:lstStyle/>
          <a:p>
            <a:pPr algn="l" indent="0" marL="0">
              <a:buNone/>
            </a:pPr>
            <a:r>
              <a:rPr lang="en-US" sz="1100" dirty="0">
                <a:solidFill>
                  <a:srgbClr val="64748B"/>
                </a:solidFill>
              </a:rPr>
              <a:t>›  Gendarmerie Nationale</a:t>
            </a:r>
            <a:endParaRPr lang="en-US" sz="1100" dirty="0"/>
          </a:p>
        </p:txBody>
      </p:sp>
      <p:sp>
        <p:nvSpPr>
          <p:cNvPr id="9" name="Text 7"/>
          <p:cNvSpPr/>
          <p:nvPr/>
        </p:nvSpPr>
        <p:spPr>
          <a:xfrm>
            <a:off x="640080" y="2752344"/>
            <a:ext cx="3566160" cy="384048"/>
          </a:xfrm>
          <a:prstGeom prst="rect">
            <a:avLst/>
          </a:prstGeom>
          <a:noFill/>
          <a:ln/>
        </p:spPr>
        <p:txBody>
          <a:bodyPr wrap="square" lIns="0" tIns="0" rIns="0" bIns="0" rtlCol="0" anchor="t"/>
          <a:lstStyle/>
          <a:p>
            <a:pPr algn="l" indent="0" marL="0">
              <a:buNone/>
            </a:pPr>
            <a:r>
              <a:rPr lang="en-US" sz="1100" dirty="0">
                <a:solidFill>
                  <a:srgbClr val="64748B"/>
                </a:solidFill>
              </a:rPr>
              <a:t>›  Forces Armées</a:t>
            </a:r>
            <a:endParaRPr lang="en-US" sz="1100" dirty="0"/>
          </a:p>
        </p:txBody>
      </p:sp>
      <p:sp>
        <p:nvSpPr>
          <p:cNvPr id="10" name="Text 8"/>
          <p:cNvSpPr/>
          <p:nvPr/>
        </p:nvSpPr>
        <p:spPr>
          <a:xfrm>
            <a:off x="640080" y="3191256"/>
            <a:ext cx="3566160" cy="384048"/>
          </a:xfrm>
          <a:prstGeom prst="rect">
            <a:avLst/>
          </a:prstGeom>
          <a:noFill/>
          <a:ln/>
        </p:spPr>
        <p:txBody>
          <a:bodyPr wrap="square" lIns="0" tIns="0" rIns="0" bIns="0" rtlCol="0" anchor="t"/>
          <a:lstStyle/>
          <a:p>
            <a:pPr algn="l" indent="0" marL="0">
              <a:buNone/>
            </a:pPr>
            <a:r>
              <a:rPr lang="en-US" sz="1100" dirty="0">
                <a:solidFill>
                  <a:srgbClr val="64748B"/>
                </a:solidFill>
              </a:rPr>
              <a:t>›  Sapeurs-Pompiers Militaires</a:t>
            </a:r>
            <a:endParaRPr lang="en-US" sz="1100" dirty="0"/>
          </a:p>
        </p:txBody>
      </p:sp>
      <p:sp>
        <p:nvSpPr>
          <p:cNvPr id="11" name="Text 9"/>
          <p:cNvSpPr/>
          <p:nvPr/>
        </p:nvSpPr>
        <p:spPr>
          <a:xfrm>
            <a:off x="640080" y="3630168"/>
            <a:ext cx="3566160" cy="384048"/>
          </a:xfrm>
          <a:prstGeom prst="rect">
            <a:avLst/>
          </a:prstGeom>
          <a:noFill/>
          <a:ln/>
        </p:spPr>
        <p:txBody>
          <a:bodyPr wrap="square" lIns="0" tIns="0" rIns="0" bIns="0" rtlCol="0" anchor="t"/>
          <a:lstStyle/>
          <a:p>
            <a:pPr algn="l" indent="0" marL="0">
              <a:buNone/>
            </a:pPr>
            <a:r>
              <a:rPr lang="en-US" sz="1100" dirty="0">
                <a:solidFill>
                  <a:srgbClr val="64748B"/>
                </a:solidFill>
              </a:rPr>
              <a:t>›  Écoles de formation</a:t>
            </a:r>
            <a:endParaRPr lang="en-US" sz="1100" dirty="0"/>
          </a:p>
        </p:txBody>
      </p:sp>
      <p:sp>
        <p:nvSpPr>
          <p:cNvPr id="12" name="Text 10"/>
          <p:cNvSpPr/>
          <p:nvPr/>
        </p:nvSpPr>
        <p:spPr>
          <a:xfrm>
            <a:off x="640080" y="4069080"/>
            <a:ext cx="3566160" cy="384048"/>
          </a:xfrm>
          <a:prstGeom prst="rect">
            <a:avLst/>
          </a:prstGeom>
          <a:noFill/>
          <a:ln/>
        </p:spPr>
        <p:txBody>
          <a:bodyPr wrap="square" lIns="0" tIns="0" rIns="0" bIns="0" rtlCol="0" anchor="t"/>
          <a:lstStyle/>
          <a:p>
            <a:pPr algn="l" indent="0" marL="0">
              <a:buNone/>
            </a:pPr>
            <a:r>
              <a:rPr lang="en-US" sz="1100" dirty="0">
                <a:solidFill>
                  <a:srgbClr val="64748B"/>
                </a:solidFill>
              </a:rPr>
              <a:t>›  Services médicaux &amp; administratifs</a:t>
            </a:r>
            <a:endParaRPr lang="en-US" sz="1100" dirty="0"/>
          </a:p>
        </p:txBody>
      </p:sp>
      <p:sp>
        <p:nvSpPr>
          <p:cNvPr id="13" name="Shape 11"/>
          <p:cNvSpPr/>
          <p:nvPr/>
        </p:nvSpPr>
        <p:spPr>
          <a:xfrm>
            <a:off x="4663440" y="1280160"/>
            <a:ext cx="4023360" cy="3474720"/>
          </a:xfrm>
          <a:prstGeom prst="roundRect">
            <a:avLst>
              <a:gd name="adj" fmla="val 2105"/>
            </a:avLst>
          </a:prstGeom>
          <a:solidFill>
            <a:srgbClr val="D6E8F8"/>
          </a:solidFill>
          <a:ln w="6350">
            <a:solidFill>
              <a:srgbClr val="D6E8F8"/>
            </a:solidFill>
            <a:prstDash val="solid"/>
          </a:ln>
          <a:effectLst>
            <a:outerShdw sx="100000" sy="100000" kx="0" ky="0" algn="bl" rotWithShape="0" blurRad="101600" dist="38100" dir="2700000">
              <a:srgbClr val="000000">
                <a:alpha val="12000"/>
              </a:srgbClr>
            </a:outerShdw>
          </a:effectLst>
        </p:spPr>
      </p:sp>
      <p:sp>
        <p:nvSpPr>
          <p:cNvPr id="14" name="Text 12"/>
          <p:cNvSpPr/>
          <p:nvPr/>
        </p:nvSpPr>
        <p:spPr>
          <a:xfrm>
            <a:off x="4846320" y="1417320"/>
            <a:ext cx="3657600" cy="365760"/>
          </a:xfrm>
          <a:prstGeom prst="rect">
            <a:avLst/>
          </a:prstGeom>
          <a:noFill/>
          <a:ln/>
        </p:spPr>
        <p:txBody>
          <a:bodyPr wrap="square" lIns="0" tIns="0" rIns="0" bIns="0" rtlCol="0" anchor="ctr"/>
          <a:lstStyle/>
          <a:p>
            <a:pPr algn="l" indent="0" marL="0">
              <a:buNone/>
            </a:pPr>
            <a:r>
              <a:rPr lang="en-US" sz="1300" b="1" dirty="0">
                <a:solidFill>
                  <a:srgbClr val="0D2240"/>
                </a:solidFill>
              </a:rPr>
              <a:t>👥  Bénéficiaires</a:t>
            </a:r>
            <a:endParaRPr lang="en-US" sz="1300" dirty="0"/>
          </a:p>
        </p:txBody>
      </p:sp>
      <p:sp>
        <p:nvSpPr>
          <p:cNvPr id="15" name="Text 13"/>
          <p:cNvSpPr/>
          <p:nvPr/>
        </p:nvSpPr>
        <p:spPr>
          <a:xfrm>
            <a:off x="4846320" y="1874520"/>
            <a:ext cx="3566160" cy="274320"/>
          </a:xfrm>
          <a:prstGeom prst="rect">
            <a:avLst/>
          </a:prstGeom>
          <a:noFill/>
          <a:ln/>
        </p:spPr>
        <p:txBody>
          <a:bodyPr wrap="square" lIns="0" tIns="0" rIns="0" bIns="0" rtlCol="0" anchor="t"/>
          <a:lstStyle/>
          <a:p>
            <a:pPr algn="l" indent="0" marL="0">
              <a:buNone/>
            </a:pPr>
            <a:r>
              <a:rPr lang="en-US" sz="1000" b="1" dirty="0">
                <a:solidFill>
                  <a:srgbClr val="2E7FC1"/>
                </a:solidFill>
              </a:rPr>
              <a:t>Institutionnels</a:t>
            </a:r>
            <a:endParaRPr lang="en-US" sz="1000" dirty="0"/>
          </a:p>
        </p:txBody>
      </p:sp>
      <p:sp>
        <p:nvSpPr>
          <p:cNvPr id="16" name="Text 14"/>
          <p:cNvSpPr/>
          <p:nvPr/>
        </p:nvSpPr>
        <p:spPr>
          <a:xfrm>
            <a:off x="4846320" y="2176272"/>
            <a:ext cx="3566160" cy="320040"/>
          </a:xfrm>
          <a:prstGeom prst="rect">
            <a:avLst/>
          </a:prstGeom>
          <a:noFill/>
          <a:ln/>
        </p:spPr>
        <p:txBody>
          <a:bodyPr wrap="square" lIns="0" tIns="0" rIns="0" bIns="0" rtlCol="0" anchor="t"/>
          <a:lstStyle/>
          <a:p>
            <a:pPr algn="l" indent="0" marL="0">
              <a:buNone/>
            </a:pPr>
            <a:r>
              <a:rPr lang="en-US" sz="1000" dirty="0">
                <a:solidFill>
                  <a:srgbClr val="64748B"/>
                </a:solidFill>
              </a:rPr>
              <a:t>›  Ministère de la Défense</a:t>
            </a:r>
            <a:endParaRPr lang="en-US" sz="1000" dirty="0"/>
          </a:p>
        </p:txBody>
      </p:sp>
      <p:sp>
        <p:nvSpPr>
          <p:cNvPr id="17" name="Text 15"/>
          <p:cNvSpPr/>
          <p:nvPr/>
        </p:nvSpPr>
        <p:spPr>
          <a:xfrm>
            <a:off x="4846320" y="2523744"/>
            <a:ext cx="3566160" cy="320040"/>
          </a:xfrm>
          <a:prstGeom prst="rect">
            <a:avLst/>
          </a:prstGeom>
          <a:noFill/>
          <a:ln/>
        </p:spPr>
        <p:txBody>
          <a:bodyPr wrap="square" lIns="0" tIns="0" rIns="0" bIns="0" rtlCol="0" anchor="t"/>
          <a:lstStyle/>
          <a:p>
            <a:pPr algn="l" indent="0" marL="0">
              <a:buNone/>
            </a:pPr>
            <a:r>
              <a:rPr lang="en-US" sz="1000" dirty="0">
                <a:solidFill>
                  <a:srgbClr val="64748B"/>
                </a:solidFill>
              </a:rPr>
              <a:t>›  Ministère de l'Intérieur</a:t>
            </a:r>
            <a:endParaRPr lang="en-US" sz="1000" dirty="0"/>
          </a:p>
        </p:txBody>
      </p:sp>
      <p:sp>
        <p:nvSpPr>
          <p:cNvPr id="18" name="Text 16"/>
          <p:cNvSpPr/>
          <p:nvPr/>
        </p:nvSpPr>
        <p:spPr>
          <a:xfrm>
            <a:off x="4846320" y="2871216"/>
            <a:ext cx="3566160" cy="320040"/>
          </a:xfrm>
          <a:prstGeom prst="rect">
            <a:avLst/>
          </a:prstGeom>
          <a:noFill/>
          <a:ln/>
        </p:spPr>
        <p:txBody>
          <a:bodyPr wrap="square" lIns="0" tIns="0" rIns="0" bIns="0" rtlCol="0" anchor="t"/>
          <a:lstStyle/>
          <a:p>
            <a:pPr algn="l" indent="0" marL="0">
              <a:buNone/>
            </a:pPr>
            <a:r>
              <a:rPr lang="en-US" sz="1000" dirty="0">
                <a:solidFill>
                  <a:srgbClr val="64748B"/>
                </a:solidFill>
              </a:rPr>
              <a:t>›  Directions des RH</a:t>
            </a:r>
            <a:endParaRPr lang="en-US" sz="1000" dirty="0"/>
          </a:p>
        </p:txBody>
      </p:sp>
      <p:sp>
        <p:nvSpPr>
          <p:cNvPr id="19" name="Text 17"/>
          <p:cNvSpPr/>
          <p:nvPr/>
        </p:nvSpPr>
        <p:spPr>
          <a:xfrm>
            <a:off x="4846320" y="3246120"/>
            <a:ext cx="3566160" cy="274320"/>
          </a:xfrm>
          <a:prstGeom prst="rect">
            <a:avLst/>
          </a:prstGeom>
          <a:noFill/>
          <a:ln/>
        </p:spPr>
        <p:txBody>
          <a:bodyPr wrap="square" lIns="0" tIns="0" rIns="0" bIns="0" rtlCol="0" anchor="t"/>
          <a:lstStyle/>
          <a:p>
            <a:pPr algn="l" indent="0" marL="0">
              <a:buNone/>
            </a:pPr>
            <a:r>
              <a:rPr lang="en-US" sz="1000" b="1" dirty="0">
                <a:solidFill>
                  <a:srgbClr val="2E7FC1"/>
                </a:solidFill>
              </a:rPr>
              <a:t>Opérationnels</a:t>
            </a:r>
            <a:endParaRPr lang="en-US" sz="1000" dirty="0"/>
          </a:p>
        </p:txBody>
      </p:sp>
      <p:sp>
        <p:nvSpPr>
          <p:cNvPr id="20" name="Text 18"/>
          <p:cNvSpPr/>
          <p:nvPr/>
        </p:nvSpPr>
        <p:spPr>
          <a:xfrm>
            <a:off x="4846320" y="3566160"/>
            <a:ext cx="3566160" cy="320040"/>
          </a:xfrm>
          <a:prstGeom prst="rect">
            <a:avLst/>
          </a:prstGeom>
          <a:noFill/>
          <a:ln/>
        </p:spPr>
        <p:txBody>
          <a:bodyPr wrap="square" lIns="0" tIns="0" rIns="0" bIns="0" rtlCol="0" anchor="t"/>
          <a:lstStyle/>
          <a:p>
            <a:pPr algn="l" indent="0" marL="0">
              <a:buNone/>
            </a:pPr>
            <a:r>
              <a:rPr lang="en-US" sz="1000" dirty="0">
                <a:solidFill>
                  <a:srgbClr val="64748B"/>
                </a:solidFill>
              </a:rPr>
              <a:t>›  Agents des forces de sécurité</a:t>
            </a:r>
            <a:endParaRPr lang="en-US" sz="1000" dirty="0"/>
          </a:p>
        </p:txBody>
      </p:sp>
      <p:sp>
        <p:nvSpPr>
          <p:cNvPr id="21" name="Text 19"/>
          <p:cNvSpPr/>
          <p:nvPr/>
        </p:nvSpPr>
        <p:spPr>
          <a:xfrm>
            <a:off x="4846320" y="3913632"/>
            <a:ext cx="3566160" cy="320040"/>
          </a:xfrm>
          <a:prstGeom prst="rect">
            <a:avLst/>
          </a:prstGeom>
          <a:noFill/>
          <a:ln/>
        </p:spPr>
        <p:txBody>
          <a:bodyPr wrap="square" lIns="0" tIns="0" rIns="0" bIns="0" rtlCol="0" anchor="t"/>
          <a:lstStyle/>
          <a:p>
            <a:pPr algn="l" indent="0" marL="0">
              <a:buNone/>
            </a:pPr>
            <a:r>
              <a:rPr lang="en-US" sz="1000" dirty="0">
                <a:solidFill>
                  <a:srgbClr val="64748B"/>
                </a:solidFill>
              </a:rPr>
              <a:t>›  Responsables RH</a:t>
            </a:r>
            <a:endParaRPr lang="en-US" sz="1000" dirty="0"/>
          </a:p>
        </p:txBody>
      </p:sp>
      <p:sp>
        <p:nvSpPr>
          <p:cNvPr id="22" name="Text 20"/>
          <p:cNvSpPr/>
          <p:nvPr/>
        </p:nvSpPr>
        <p:spPr>
          <a:xfrm>
            <a:off x="4846320" y="4261104"/>
            <a:ext cx="3566160" cy="320040"/>
          </a:xfrm>
          <a:prstGeom prst="rect">
            <a:avLst/>
          </a:prstGeom>
          <a:noFill/>
          <a:ln/>
        </p:spPr>
        <p:txBody>
          <a:bodyPr wrap="square" lIns="0" tIns="0" rIns="0" bIns="0" rtlCol="0" anchor="t"/>
          <a:lstStyle/>
          <a:p>
            <a:pPr algn="l" indent="0" marL="0">
              <a:buNone/>
            </a:pPr>
            <a:r>
              <a:rPr lang="en-US" sz="1000" dirty="0">
                <a:solidFill>
                  <a:srgbClr val="64748B"/>
                </a:solidFill>
              </a:rPr>
              <a:t>›  Autorités de supervision</a:t>
            </a:r>
            <a:endParaRPr lang="en-US" sz="1000" dirty="0"/>
          </a:p>
        </p:txBody>
      </p:sp>
      <p:sp>
        <p:nvSpPr>
          <p:cNvPr id="23" name="Shape 21"/>
          <p:cNvSpPr/>
          <p:nvPr/>
        </p:nvSpPr>
        <p:spPr>
          <a:xfrm>
            <a:off x="411480" y="4846320"/>
            <a:ext cx="8321040" cy="201168"/>
          </a:xfrm>
          <a:prstGeom prst="roundRect">
            <a:avLst>
              <a:gd name="adj" fmla="val 22727"/>
            </a:avLst>
          </a:prstGeom>
          <a:solidFill>
            <a:srgbClr val="F0A500">
              <a:alpha val="30000"/>
            </a:srgbClr>
          </a:solidFill>
          <a:ln w="12700">
            <a:solidFill>
              <a:srgbClr val="F0A500"/>
            </a:solidFill>
            <a:prstDash val="solid"/>
          </a:ln>
        </p:spPr>
      </p:sp>
      <p:sp>
        <p:nvSpPr>
          <p:cNvPr id="24" name="Text 22"/>
          <p:cNvSpPr/>
          <p:nvPr/>
        </p:nvSpPr>
        <p:spPr>
          <a:xfrm>
            <a:off x="548640" y="4846320"/>
            <a:ext cx="8138160" cy="201168"/>
          </a:xfrm>
          <a:prstGeom prst="rect">
            <a:avLst/>
          </a:prstGeom>
          <a:noFill/>
          <a:ln/>
        </p:spPr>
        <p:txBody>
          <a:bodyPr wrap="square" lIns="0" tIns="0" rIns="0" bIns="0" rtlCol="0" anchor="ctr"/>
          <a:lstStyle/>
          <a:p>
            <a:pPr algn="l" indent="0" marL="0">
              <a:buNone/>
            </a:pPr>
            <a:r>
              <a:rPr lang="en-US" sz="900" i="1" dirty="0">
                <a:solidFill>
                  <a:srgbClr val="0D2240"/>
                </a:solidFill>
              </a:rPr>
              <a:t>⚡  Le système est conçu pour s'étendre à d'autres corps sécuritaires à l'avenir.</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411480" y="164592"/>
            <a:ext cx="2011680" cy="292608"/>
          </a:xfrm>
          <a:prstGeom prst="roundRect">
            <a:avLst>
              <a:gd name="adj" fmla="val 18750"/>
            </a:avLst>
          </a:prstGeom>
          <a:solidFill>
            <a:srgbClr val="2E7FC1"/>
          </a:solidFill>
          <a:ln w="12700">
            <a:solidFill>
              <a:srgbClr val="2E7FC1"/>
            </a:solidFill>
            <a:prstDash val="solid"/>
          </a:ln>
        </p:spPr>
      </p:sp>
      <p:sp>
        <p:nvSpPr>
          <p:cNvPr id="3" name="Text 1"/>
          <p:cNvSpPr/>
          <p:nvPr/>
        </p:nvSpPr>
        <p:spPr>
          <a:xfrm>
            <a:off x="411480" y="164592"/>
            <a:ext cx="2011680" cy="292608"/>
          </a:xfrm>
          <a:prstGeom prst="rect">
            <a:avLst/>
          </a:prstGeom>
          <a:noFill/>
          <a:ln/>
        </p:spPr>
        <p:txBody>
          <a:bodyPr wrap="square" lIns="0" tIns="0" rIns="0" bIns="0" rtlCol="0" anchor="ctr"/>
          <a:lstStyle/>
          <a:p>
            <a:pPr algn="ctr" indent="0" marL="0">
              <a:buNone/>
            </a:pPr>
            <a:r>
              <a:rPr lang="en-US" sz="800" b="1" dirty="0">
                <a:solidFill>
                  <a:srgbClr val="FFFFFF"/>
                </a:solidFill>
              </a:rPr>
              <a:t>FONCTIONNALITÉS</a:t>
            </a:r>
            <a:endParaRPr lang="en-US" sz="800" dirty="0"/>
          </a:p>
        </p:txBody>
      </p:sp>
      <p:sp>
        <p:nvSpPr>
          <p:cNvPr id="4" name="Text 2"/>
          <p:cNvSpPr/>
          <p:nvPr/>
        </p:nvSpPr>
        <p:spPr>
          <a:xfrm>
            <a:off x="411480" y="548640"/>
            <a:ext cx="8321040" cy="594360"/>
          </a:xfrm>
          <a:prstGeom prst="rect">
            <a:avLst/>
          </a:prstGeom>
          <a:noFill/>
          <a:ln/>
        </p:spPr>
        <p:txBody>
          <a:bodyPr wrap="square" lIns="0" tIns="0" rIns="0" bIns="0" rtlCol="0" anchor="ctr"/>
          <a:lstStyle/>
          <a:p>
            <a:pPr algn="l" indent="0" marL="0">
              <a:buNone/>
            </a:pPr>
            <a:r>
              <a:rPr lang="en-US" sz="2800" b="1" dirty="0">
                <a:solidFill>
                  <a:srgbClr val="0D2240"/>
                </a:solidFill>
                <a:latin typeface="Cambria" pitchFamily="34" charset="0"/>
                <a:ea typeface="Cambria" pitchFamily="34" charset="-122"/>
                <a:cs typeface="Cambria" pitchFamily="34" charset="-120"/>
              </a:rPr>
              <a:t>11 Modules fonctionnels</a:t>
            </a:r>
            <a:endParaRPr lang="en-US" sz="2800" dirty="0"/>
          </a:p>
        </p:txBody>
      </p:sp>
      <p:sp>
        <p:nvSpPr>
          <p:cNvPr id="5" name="Shape 3"/>
          <p:cNvSpPr/>
          <p:nvPr/>
        </p:nvSpPr>
        <p:spPr>
          <a:xfrm>
            <a:off x="365760" y="1325880"/>
            <a:ext cx="2057400" cy="960120"/>
          </a:xfrm>
          <a:prstGeom prst="roundRect">
            <a:avLst>
              <a:gd name="adj" fmla="val 7619"/>
            </a:avLst>
          </a:prstGeom>
          <a:solidFill>
            <a:srgbClr val="FFFFFF"/>
          </a:solidFill>
          <a:ln w="6350">
            <a:solidFill>
              <a:srgbClr val="D6E8F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365760" y="1399032"/>
            <a:ext cx="2057400" cy="41148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7" name="Text 5"/>
          <p:cNvSpPr/>
          <p:nvPr/>
        </p:nvSpPr>
        <p:spPr>
          <a:xfrm>
            <a:off x="411480" y="1828800"/>
            <a:ext cx="1965960" cy="384048"/>
          </a:xfrm>
          <a:prstGeom prst="rect">
            <a:avLst/>
          </a:prstGeom>
          <a:noFill/>
          <a:ln/>
        </p:spPr>
        <p:txBody>
          <a:bodyPr wrap="square" lIns="0" tIns="0" rIns="0" bIns="0" rtlCol="0" anchor="t"/>
          <a:lstStyle/>
          <a:p>
            <a:pPr algn="ctr" indent="0" marL="0">
              <a:buNone/>
            </a:pPr>
            <a:r>
              <a:rPr lang="en-US" sz="950" b="1" dirty="0">
                <a:solidFill>
                  <a:srgbClr val="0D2240"/>
                </a:solidFill>
              </a:rPr>
              <a:t>Authentification &amp; Accès</a:t>
            </a:r>
            <a:endParaRPr lang="en-US" sz="950" dirty="0"/>
          </a:p>
        </p:txBody>
      </p:sp>
      <p:sp>
        <p:nvSpPr>
          <p:cNvPr id="8" name="Shape 6"/>
          <p:cNvSpPr/>
          <p:nvPr/>
        </p:nvSpPr>
        <p:spPr>
          <a:xfrm>
            <a:off x="2514600" y="1325880"/>
            <a:ext cx="2057400" cy="960120"/>
          </a:xfrm>
          <a:prstGeom prst="roundRect">
            <a:avLst>
              <a:gd name="adj" fmla="val 7619"/>
            </a:avLst>
          </a:prstGeom>
          <a:solidFill>
            <a:srgbClr val="FFFFFF"/>
          </a:solidFill>
          <a:ln w="6350">
            <a:solidFill>
              <a:srgbClr val="D6E8F8"/>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2514600" y="1399032"/>
            <a:ext cx="2057400" cy="41148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0" name="Text 8"/>
          <p:cNvSpPr/>
          <p:nvPr/>
        </p:nvSpPr>
        <p:spPr>
          <a:xfrm>
            <a:off x="2560320" y="1828800"/>
            <a:ext cx="1965960" cy="384048"/>
          </a:xfrm>
          <a:prstGeom prst="rect">
            <a:avLst/>
          </a:prstGeom>
          <a:noFill/>
          <a:ln/>
        </p:spPr>
        <p:txBody>
          <a:bodyPr wrap="square" lIns="0" tIns="0" rIns="0" bIns="0" rtlCol="0" anchor="t"/>
          <a:lstStyle/>
          <a:p>
            <a:pPr algn="ctr" indent="0" marL="0">
              <a:buNone/>
            </a:pPr>
            <a:r>
              <a:rPr lang="en-US" sz="950" b="1" dirty="0">
                <a:solidFill>
                  <a:srgbClr val="0D2240"/>
                </a:solidFill>
              </a:rPr>
              <a:t>Gestion des agents</a:t>
            </a:r>
            <a:endParaRPr lang="en-US" sz="950" dirty="0"/>
          </a:p>
        </p:txBody>
      </p:sp>
      <p:sp>
        <p:nvSpPr>
          <p:cNvPr id="11" name="Shape 9"/>
          <p:cNvSpPr/>
          <p:nvPr/>
        </p:nvSpPr>
        <p:spPr>
          <a:xfrm>
            <a:off x="4663440" y="1325880"/>
            <a:ext cx="2057400" cy="960120"/>
          </a:xfrm>
          <a:prstGeom prst="roundRect">
            <a:avLst>
              <a:gd name="adj" fmla="val 7619"/>
            </a:avLst>
          </a:prstGeom>
          <a:solidFill>
            <a:srgbClr val="FFFFFF"/>
          </a:solidFill>
          <a:ln w="6350">
            <a:solidFill>
              <a:srgbClr val="D6E8F8"/>
            </a:solidFill>
            <a:prstDash val="solid"/>
          </a:ln>
          <a:effectLst>
            <a:outerShdw sx="100000" sy="100000" kx="0" ky="0" algn="bl" rotWithShape="0" blurRad="101600" dist="38100" dir="2700000">
              <a:srgbClr val="000000">
                <a:alpha val="12000"/>
              </a:srgbClr>
            </a:outerShdw>
          </a:effectLst>
        </p:spPr>
      </p:sp>
      <p:sp>
        <p:nvSpPr>
          <p:cNvPr id="12" name="Text 10"/>
          <p:cNvSpPr/>
          <p:nvPr/>
        </p:nvSpPr>
        <p:spPr>
          <a:xfrm>
            <a:off x="4663440" y="1399032"/>
            <a:ext cx="2057400" cy="41148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11"/>
          <p:cNvSpPr/>
          <p:nvPr/>
        </p:nvSpPr>
        <p:spPr>
          <a:xfrm>
            <a:off x="4709160" y="1828800"/>
            <a:ext cx="1965960" cy="384048"/>
          </a:xfrm>
          <a:prstGeom prst="rect">
            <a:avLst/>
          </a:prstGeom>
          <a:noFill/>
          <a:ln/>
        </p:spPr>
        <p:txBody>
          <a:bodyPr wrap="square" lIns="0" tIns="0" rIns="0" bIns="0" rtlCol="0" anchor="t"/>
          <a:lstStyle/>
          <a:p>
            <a:pPr algn="ctr" indent="0" marL="0">
              <a:buNone/>
            </a:pPr>
            <a:r>
              <a:rPr lang="en-US" sz="950" b="1" dirty="0">
                <a:solidFill>
                  <a:srgbClr val="0D2240"/>
                </a:solidFill>
              </a:rPr>
              <a:t>Suivi de carrière</a:t>
            </a:r>
            <a:endParaRPr lang="en-US" sz="950" dirty="0"/>
          </a:p>
        </p:txBody>
      </p:sp>
      <p:sp>
        <p:nvSpPr>
          <p:cNvPr id="14" name="Shape 12"/>
          <p:cNvSpPr/>
          <p:nvPr/>
        </p:nvSpPr>
        <p:spPr>
          <a:xfrm>
            <a:off x="6812280" y="1325880"/>
            <a:ext cx="2057400" cy="960120"/>
          </a:xfrm>
          <a:prstGeom prst="roundRect">
            <a:avLst>
              <a:gd name="adj" fmla="val 7619"/>
            </a:avLst>
          </a:prstGeom>
          <a:solidFill>
            <a:srgbClr val="FFFFFF"/>
          </a:solidFill>
          <a:ln w="6350">
            <a:solidFill>
              <a:srgbClr val="D6E8F8"/>
            </a:solidFill>
            <a:prstDash val="solid"/>
          </a:ln>
          <a:effectLst>
            <a:outerShdw sx="100000" sy="100000" kx="0" ky="0" algn="bl" rotWithShape="0" blurRad="101600" dist="38100" dir="2700000">
              <a:srgbClr val="000000">
                <a:alpha val="12000"/>
              </a:srgbClr>
            </a:outerShdw>
          </a:effectLst>
        </p:spPr>
      </p:sp>
      <p:sp>
        <p:nvSpPr>
          <p:cNvPr id="15" name="Text 13"/>
          <p:cNvSpPr/>
          <p:nvPr/>
        </p:nvSpPr>
        <p:spPr>
          <a:xfrm>
            <a:off x="6812280" y="1399032"/>
            <a:ext cx="2057400" cy="41148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Text 14"/>
          <p:cNvSpPr/>
          <p:nvPr/>
        </p:nvSpPr>
        <p:spPr>
          <a:xfrm>
            <a:off x="6858000" y="1828800"/>
            <a:ext cx="1965960" cy="384048"/>
          </a:xfrm>
          <a:prstGeom prst="rect">
            <a:avLst/>
          </a:prstGeom>
          <a:noFill/>
          <a:ln/>
        </p:spPr>
        <p:txBody>
          <a:bodyPr wrap="square" lIns="0" tIns="0" rIns="0" bIns="0" rtlCol="0" anchor="t"/>
          <a:lstStyle/>
          <a:p>
            <a:pPr algn="ctr" indent="0" marL="0">
              <a:buNone/>
            </a:pPr>
            <a:r>
              <a:rPr lang="en-US" sz="950" b="1" dirty="0">
                <a:solidFill>
                  <a:srgbClr val="0D2240"/>
                </a:solidFill>
              </a:rPr>
              <a:t>Gestion des affectations</a:t>
            </a:r>
            <a:endParaRPr lang="en-US" sz="950" dirty="0"/>
          </a:p>
        </p:txBody>
      </p:sp>
      <p:sp>
        <p:nvSpPr>
          <p:cNvPr id="17" name="Shape 15"/>
          <p:cNvSpPr/>
          <p:nvPr/>
        </p:nvSpPr>
        <p:spPr>
          <a:xfrm>
            <a:off x="365760" y="2395728"/>
            <a:ext cx="2057400" cy="960120"/>
          </a:xfrm>
          <a:prstGeom prst="roundRect">
            <a:avLst>
              <a:gd name="adj" fmla="val 7619"/>
            </a:avLst>
          </a:prstGeom>
          <a:solidFill>
            <a:srgbClr val="FFFFFF"/>
          </a:solidFill>
          <a:ln w="6350">
            <a:solidFill>
              <a:srgbClr val="D6E8F8"/>
            </a:solidFill>
            <a:prstDash val="solid"/>
          </a:ln>
          <a:effectLst>
            <a:outerShdw sx="100000" sy="100000" kx="0" ky="0" algn="bl" rotWithShape="0" blurRad="101600" dist="38100" dir="2700000">
              <a:srgbClr val="000000">
                <a:alpha val="12000"/>
              </a:srgbClr>
            </a:outerShdw>
          </a:effectLst>
        </p:spPr>
      </p:sp>
      <p:sp>
        <p:nvSpPr>
          <p:cNvPr id="18" name="Text 16"/>
          <p:cNvSpPr/>
          <p:nvPr/>
        </p:nvSpPr>
        <p:spPr>
          <a:xfrm>
            <a:off x="365760" y="2468880"/>
            <a:ext cx="2057400" cy="41148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9" name="Text 17"/>
          <p:cNvSpPr/>
          <p:nvPr/>
        </p:nvSpPr>
        <p:spPr>
          <a:xfrm>
            <a:off x="411480" y="2898648"/>
            <a:ext cx="1965960" cy="384048"/>
          </a:xfrm>
          <a:prstGeom prst="rect">
            <a:avLst/>
          </a:prstGeom>
          <a:noFill/>
          <a:ln/>
        </p:spPr>
        <p:txBody>
          <a:bodyPr wrap="square" lIns="0" tIns="0" rIns="0" bIns="0" rtlCol="0" anchor="t"/>
          <a:lstStyle/>
          <a:p>
            <a:pPr algn="ctr" indent="0" marL="0">
              <a:buNone/>
            </a:pPr>
            <a:r>
              <a:rPr lang="en-US" sz="950" b="1" dirty="0">
                <a:solidFill>
                  <a:srgbClr val="0D2240"/>
                </a:solidFill>
              </a:rPr>
              <a:t>Statut administratif</a:t>
            </a:r>
            <a:endParaRPr lang="en-US" sz="950" dirty="0"/>
          </a:p>
        </p:txBody>
      </p:sp>
      <p:sp>
        <p:nvSpPr>
          <p:cNvPr id="20" name="Shape 18"/>
          <p:cNvSpPr/>
          <p:nvPr/>
        </p:nvSpPr>
        <p:spPr>
          <a:xfrm>
            <a:off x="2514600" y="2395728"/>
            <a:ext cx="2057400" cy="960120"/>
          </a:xfrm>
          <a:prstGeom prst="roundRect">
            <a:avLst>
              <a:gd name="adj" fmla="val 7619"/>
            </a:avLst>
          </a:prstGeom>
          <a:solidFill>
            <a:srgbClr val="FFFFFF"/>
          </a:solidFill>
          <a:ln w="6350">
            <a:solidFill>
              <a:srgbClr val="D6E8F8"/>
            </a:solidFill>
            <a:prstDash val="solid"/>
          </a:ln>
          <a:effectLst>
            <a:outerShdw sx="100000" sy="100000" kx="0" ky="0" algn="bl" rotWithShape="0" blurRad="101600" dist="38100" dir="2700000">
              <a:srgbClr val="000000">
                <a:alpha val="12000"/>
              </a:srgbClr>
            </a:outerShdw>
          </a:effectLst>
        </p:spPr>
      </p:sp>
      <p:sp>
        <p:nvSpPr>
          <p:cNvPr id="21" name="Text 19"/>
          <p:cNvSpPr/>
          <p:nvPr/>
        </p:nvSpPr>
        <p:spPr>
          <a:xfrm>
            <a:off x="2514600" y="2468880"/>
            <a:ext cx="2057400" cy="41148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2" name="Text 20"/>
          <p:cNvSpPr/>
          <p:nvPr/>
        </p:nvSpPr>
        <p:spPr>
          <a:xfrm>
            <a:off x="2560320" y="2898648"/>
            <a:ext cx="1965960" cy="384048"/>
          </a:xfrm>
          <a:prstGeom prst="rect">
            <a:avLst/>
          </a:prstGeom>
          <a:noFill/>
          <a:ln/>
        </p:spPr>
        <p:txBody>
          <a:bodyPr wrap="square" lIns="0" tIns="0" rIns="0" bIns="0" rtlCol="0" anchor="t"/>
          <a:lstStyle/>
          <a:p>
            <a:pPr algn="ctr" indent="0" marL="0">
              <a:buNone/>
            </a:pPr>
            <a:r>
              <a:rPr lang="en-US" sz="950" b="1" dirty="0">
                <a:solidFill>
                  <a:srgbClr val="0D2240"/>
                </a:solidFill>
              </a:rPr>
              <a:t>Santé &amp; Aptitude</a:t>
            </a:r>
            <a:endParaRPr lang="en-US" sz="950" dirty="0"/>
          </a:p>
        </p:txBody>
      </p:sp>
      <p:sp>
        <p:nvSpPr>
          <p:cNvPr id="23" name="Shape 21"/>
          <p:cNvSpPr/>
          <p:nvPr/>
        </p:nvSpPr>
        <p:spPr>
          <a:xfrm>
            <a:off x="4663440" y="2395728"/>
            <a:ext cx="2057400" cy="960120"/>
          </a:xfrm>
          <a:prstGeom prst="roundRect">
            <a:avLst>
              <a:gd name="adj" fmla="val 7619"/>
            </a:avLst>
          </a:prstGeom>
          <a:solidFill>
            <a:srgbClr val="FFFFFF"/>
          </a:solidFill>
          <a:ln w="6350">
            <a:solidFill>
              <a:srgbClr val="D6E8F8"/>
            </a:solidFill>
            <a:prstDash val="solid"/>
          </a:ln>
          <a:effectLst>
            <a:outerShdw sx="100000" sy="100000" kx="0" ky="0" algn="bl" rotWithShape="0" blurRad="101600" dist="38100" dir="2700000">
              <a:srgbClr val="000000">
                <a:alpha val="12000"/>
              </a:srgbClr>
            </a:outerShdw>
          </a:effectLst>
        </p:spPr>
      </p:sp>
      <p:sp>
        <p:nvSpPr>
          <p:cNvPr id="24" name="Text 22"/>
          <p:cNvSpPr/>
          <p:nvPr/>
        </p:nvSpPr>
        <p:spPr>
          <a:xfrm>
            <a:off x="4663440" y="2468880"/>
            <a:ext cx="2057400" cy="41148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5" name="Text 23"/>
          <p:cNvSpPr/>
          <p:nvPr/>
        </p:nvSpPr>
        <p:spPr>
          <a:xfrm>
            <a:off x="4709160" y="2898648"/>
            <a:ext cx="1965960" cy="384048"/>
          </a:xfrm>
          <a:prstGeom prst="rect">
            <a:avLst/>
          </a:prstGeom>
          <a:noFill/>
          <a:ln/>
        </p:spPr>
        <p:txBody>
          <a:bodyPr wrap="square" lIns="0" tIns="0" rIns="0" bIns="0" rtlCol="0" anchor="t"/>
          <a:lstStyle/>
          <a:p>
            <a:pPr algn="ctr" indent="0" marL="0">
              <a:buNone/>
            </a:pPr>
            <a:r>
              <a:rPr lang="en-US" sz="950" b="1" dirty="0">
                <a:solidFill>
                  <a:srgbClr val="0D2240"/>
                </a:solidFill>
              </a:rPr>
              <a:t>Gestion documentaire</a:t>
            </a:r>
            <a:endParaRPr lang="en-US" sz="950" dirty="0"/>
          </a:p>
        </p:txBody>
      </p:sp>
      <p:sp>
        <p:nvSpPr>
          <p:cNvPr id="26" name="Shape 24"/>
          <p:cNvSpPr/>
          <p:nvPr/>
        </p:nvSpPr>
        <p:spPr>
          <a:xfrm>
            <a:off x="6812280" y="2395728"/>
            <a:ext cx="2057400" cy="960120"/>
          </a:xfrm>
          <a:prstGeom prst="roundRect">
            <a:avLst>
              <a:gd name="adj" fmla="val 7619"/>
            </a:avLst>
          </a:prstGeom>
          <a:solidFill>
            <a:srgbClr val="FFFFFF"/>
          </a:solidFill>
          <a:ln w="6350">
            <a:solidFill>
              <a:srgbClr val="D6E8F8"/>
            </a:solidFill>
            <a:prstDash val="solid"/>
          </a:ln>
          <a:effectLst>
            <a:outerShdw sx="100000" sy="100000" kx="0" ky="0" algn="bl" rotWithShape="0" blurRad="101600" dist="38100" dir="2700000">
              <a:srgbClr val="000000">
                <a:alpha val="12000"/>
              </a:srgbClr>
            </a:outerShdw>
          </a:effectLst>
        </p:spPr>
      </p:sp>
      <p:sp>
        <p:nvSpPr>
          <p:cNvPr id="27" name="Text 25"/>
          <p:cNvSpPr/>
          <p:nvPr/>
        </p:nvSpPr>
        <p:spPr>
          <a:xfrm>
            <a:off x="6812280" y="2468880"/>
            <a:ext cx="2057400" cy="41148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Text 26"/>
          <p:cNvSpPr/>
          <p:nvPr/>
        </p:nvSpPr>
        <p:spPr>
          <a:xfrm>
            <a:off x="6858000" y="2898648"/>
            <a:ext cx="1965960" cy="384048"/>
          </a:xfrm>
          <a:prstGeom prst="rect">
            <a:avLst/>
          </a:prstGeom>
          <a:noFill/>
          <a:ln/>
        </p:spPr>
        <p:txBody>
          <a:bodyPr wrap="square" lIns="0" tIns="0" rIns="0" bIns="0" rtlCol="0" anchor="t"/>
          <a:lstStyle/>
          <a:p>
            <a:pPr algn="ctr" indent="0" marL="0">
              <a:buNone/>
            </a:pPr>
            <a:r>
              <a:rPr lang="en-US" sz="950" b="1" dirty="0">
                <a:solidFill>
                  <a:srgbClr val="0D2240"/>
                </a:solidFill>
              </a:rPr>
              <a:t>Recherche &amp; Vérification</a:t>
            </a:r>
            <a:endParaRPr lang="en-US" sz="950" dirty="0"/>
          </a:p>
        </p:txBody>
      </p:sp>
      <p:sp>
        <p:nvSpPr>
          <p:cNvPr id="29" name="Shape 27"/>
          <p:cNvSpPr/>
          <p:nvPr/>
        </p:nvSpPr>
        <p:spPr>
          <a:xfrm>
            <a:off x="365760" y="3465576"/>
            <a:ext cx="2057400" cy="960120"/>
          </a:xfrm>
          <a:prstGeom prst="roundRect">
            <a:avLst>
              <a:gd name="adj" fmla="val 7619"/>
            </a:avLst>
          </a:prstGeom>
          <a:solidFill>
            <a:srgbClr val="FFFFFF"/>
          </a:solidFill>
          <a:ln w="6350">
            <a:solidFill>
              <a:srgbClr val="D6E8F8"/>
            </a:solidFill>
            <a:prstDash val="solid"/>
          </a:ln>
          <a:effectLst>
            <a:outerShdw sx="100000" sy="100000" kx="0" ky="0" algn="bl" rotWithShape="0" blurRad="101600" dist="38100" dir="2700000">
              <a:srgbClr val="000000">
                <a:alpha val="12000"/>
              </a:srgbClr>
            </a:outerShdw>
          </a:effectLst>
        </p:spPr>
      </p:sp>
      <p:sp>
        <p:nvSpPr>
          <p:cNvPr id="30" name="Text 28"/>
          <p:cNvSpPr/>
          <p:nvPr/>
        </p:nvSpPr>
        <p:spPr>
          <a:xfrm>
            <a:off x="365760" y="3538728"/>
            <a:ext cx="2057400" cy="41148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1" name="Text 29"/>
          <p:cNvSpPr/>
          <p:nvPr/>
        </p:nvSpPr>
        <p:spPr>
          <a:xfrm>
            <a:off x="411480" y="3968496"/>
            <a:ext cx="1965960" cy="384048"/>
          </a:xfrm>
          <a:prstGeom prst="rect">
            <a:avLst/>
          </a:prstGeom>
          <a:noFill/>
          <a:ln/>
        </p:spPr>
        <p:txBody>
          <a:bodyPr wrap="square" lIns="0" tIns="0" rIns="0" bIns="0" rtlCol="0" anchor="t"/>
          <a:lstStyle/>
          <a:p>
            <a:pPr algn="ctr" indent="0" marL="0">
              <a:buNone/>
            </a:pPr>
            <a:r>
              <a:rPr lang="en-US" sz="950" b="1" dirty="0">
                <a:solidFill>
                  <a:srgbClr val="0D2240"/>
                </a:solidFill>
              </a:rPr>
              <a:t>Tableaux de bord</a:t>
            </a:r>
            <a:endParaRPr lang="en-US" sz="950" dirty="0"/>
          </a:p>
        </p:txBody>
      </p:sp>
      <p:sp>
        <p:nvSpPr>
          <p:cNvPr id="32" name="Shape 30"/>
          <p:cNvSpPr/>
          <p:nvPr/>
        </p:nvSpPr>
        <p:spPr>
          <a:xfrm>
            <a:off x="2514600" y="3465576"/>
            <a:ext cx="2057400" cy="960120"/>
          </a:xfrm>
          <a:prstGeom prst="roundRect">
            <a:avLst>
              <a:gd name="adj" fmla="val 7619"/>
            </a:avLst>
          </a:prstGeom>
          <a:solidFill>
            <a:srgbClr val="FFFFFF"/>
          </a:solidFill>
          <a:ln w="6350">
            <a:solidFill>
              <a:srgbClr val="D6E8F8"/>
            </a:solidFill>
            <a:prstDash val="solid"/>
          </a:ln>
          <a:effectLst>
            <a:outerShdw sx="100000" sy="100000" kx="0" ky="0" algn="bl" rotWithShape="0" blurRad="101600" dist="38100" dir="2700000">
              <a:srgbClr val="000000">
                <a:alpha val="12000"/>
              </a:srgbClr>
            </a:outerShdw>
          </a:effectLst>
        </p:spPr>
      </p:sp>
      <p:sp>
        <p:nvSpPr>
          <p:cNvPr id="33" name="Text 31"/>
          <p:cNvSpPr/>
          <p:nvPr/>
        </p:nvSpPr>
        <p:spPr>
          <a:xfrm>
            <a:off x="2514600" y="3538728"/>
            <a:ext cx="2057400" cy="41148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4" name="Text 32"/>
          <p:cNvSpPr/>
          <p:nvPr/>
        </p:nvSpPr>
        <p:spPr>
          <a:xfrm>
            <a:off x="2560320" y="3968496"/>
            <a:ext cx="1965960" cy="384048"/>
          </a:xfrm>
          <a:prstGeom prst="rect">
            <a:avLst/>
          </a:prstGeom>
          <a:noFill/>
          <a:ln/>
        </p:spPr>
        <p:txBody>
          <a:bodyPr wrap="square" lIns="0" tIns="0" rIns="0" bIns="0" rtlCol="0" anchor="t"/>
          <a:lstStyle/>
          <a:p>
            <a:pPr algn="ctr" indent="0" marL="0">
              <a:buNone/>
            </a:pPr>
            <a:r>
              <a:rPr lang="en-US" sz="950" b="1" dirty="0">
                <a:solidFill>
                  <a:srgbClr val="0D2240"/>
                </a:solidFill>
              </a:rPr>
              <a:t>Journalisation &amp; Audit</a:t>
            </a:r>
            <a:endParaRPr lang="en-US" sz="950" dirty="0"/>
          </a:p>
        </p:txBody>
      </p:sp>
      <p:sp>
        <p:nvSpPr>
          <p:cNvPr id="35" name="Shape 33"/>
          <p:cNvSpPr/>
          <p:nvPr/>
        </p:nvSpPr>
        <p:spPr>
          <a:xfrm>
            <a:off x="4663440" y="3465576"/>
            <a:ext cx="2057400" cy="960120"/>
          </a:xfrm>
          <a:prstGeom prst="roundRect">
            <a:avLst>
              <a:gd name="adj" fmla="val 7619"/>
            </a:avLst>
          </a:prstGeom>
          <a:solidFill>
            <a:srgbClr val="FFFFFF"/>
          </a:solidFill>
          <a:ln w="6350">
            <a:solidFill>
              <a:srgbClr val="D6E8F8"/>
            </a:solidFill>
            <a:prstDash val="solid"/>
          </a:ln>
          <a:effectLst>
            <a:outerShdw sx="100000" sy="100000" kx="0" ky="0" algn="bl" rotWithShape="0" blurRad="101600" dist="38100" dir="2700000">
              <a:srgbClr val="000000">
                <a:alpha val="12000"/>
              </a:srgbClr>
            </a:outerShdw>
          </a:effectLst>
        </p:spPr>
      </p:sp>
      <p:sp>
        <p:nvSpPr>
          <p:cNvPr id="36" name="Text 34"/>
          <p:cNvSpPr/>
          <p:nvPr/>
        </p:nvSpPr>
        <p:spPr>
          <a:xfrm>
            <a:off x="4663440" y="3538728"/>
            <a:ext cx="2057400" cy="41148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7" name="Text 35"/>
          <p:cNvSpPr/>
          <p:nvPr/>
        </p:nvSpPr>
        <p:spPr>
          <a:xfrm>
            <a:off x="4709160" y="3968496"/>
            <a:ext cx="1965960" cy="384048"/>
          </a:xfrm>
          <a:prstGeom prst="rect">
            <a:avLst/>
          </a:prstGeom>
          <a:noFill/>
          <a:ln/>
        </p:spPr>
        <p:txBody>
          <a:bodyPr wrap="square" lIns="0" tIns="0" rIns="0" bIns="0" rtlCol="0" anchor="t"/>
          <a:lstStyle/>
          <a:p>
            <a:pPr algn="ctr" indent="0" marL="0">
              <a:buNone/>
            </a:pPr>
            <a:r>
              <a:rPr lang="en-US" sz="950" b="1" dirty="0">
                <a:solidFill>
                  <a:srgbClr val="0D2240"/>
                </a:solidFill>
              </a:rPr>
              <a:t>Notifications &amp; Alertes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164592"/>
            <a:ext cx="2011680" cy="292608"/>
          </a:xfrm>
          <a:prstGeom prst="roundRect">
            <a:avLst>
              <a:gd name="adj" fmla="val 18750"/>
            </a:avLst>
          </a:prstGeom>
          <a:solidFill>
            <a:srgbClr val="2E7FC1"/>
          </a:solidFill>
          <a:ln w="12700">
            <a:solidFill>
              <a:srgbClr val="2E7FC1"/>
            </a:solidFill>
            <a:prstDash val="solid"/>
          </a:ln>
        </p:spPr>
      </p:sp>
      <p:sp>
        <p:nvSpPr>
          <p:cNvPr id="3" name="Text 1"/>
          <p:cNvSpPr/>
          <p:nvPr/>
        </p:nvSpPr>
        <p:spPr>
          <a:xfrm>
            <a:off x="411480" y="164592"/>
            <a:ext cx="2011680" cy="292608"/>
          </a:xfrm>
          <a:prstGeom prst="rect">
            <a:avLst/>
          </a:prstGeom>
          <a:noFill/>
          <a:ln/>
        </p:spPr>
        <p:txBody>
          <a:bodyPr wrap="square" lIns="0" tIns="0" rIns="0" bIns="0" rtlCol="0" anchor="ctr"/>
          <a:lstStyle/>
          <a:p>
            <a:pPr algn="ctr" indent="0" marL="0">
              <a:buNone/>
            </a:pPr>
            <a:r>
              <a:rPr lang="en-US" sz="800" b="1" dirty="0">
                <a:solidFill>
                  <a:srgbClr val="FFFFFF"/>
                </a:solidFill>
              </a:rPr>
              <a:t>ACCÈS &amp; DROITS</a:t>
            </a:r>
            <a:endParaRPr lang="en-US" sz="800" dirty="0"/>
          </a:p>
        </p:txBody>
      </p:sp>
      <p:sp>
        <p:nvSpPr>
          <p:cNvPr id="4" name="Text 2"/>
          <p:cNvSpPr/>
          <p:nvPr/>
        </p:nvSpPr>
        <p:spPr>
          <a:xfrm>
            <a:off x="411480" y="548640"/>
            <a:ext cx="8321040" cy="594360"/>
          </a:xfrm>
          <a:prstGeom prst="rect">
            <a:avLst/>
          </a:prstGeom>
          <a:noFill/>
          <a:ln/>
        </p:spPr>
        <p:txBody>
          <a:bodyPr wrap="square" lIns="0" tIns="0" rIns="0" bIns="0" rtlCol="0" anchor="ctr"/>
          <a:lstStyle/>
          <a:p>
            <a:pPr algn="l" indent="0" marL="0">
              <a:buNone/>
            </a:pPr>
            <a:r>
              <a:rPr lang="en-US" sz="2800" b="1" dirty="0">
                <a:solidFill>
                  <a:srgbClr val="0D2240"/>
                </a:solidFill>
                <a:latin typeface="Cambria" pitchFamily="34" charset="0"/>
                <a:ea typeface="Cambria" pitchFamily="34" charset="-122"/>
                <a:cs typeface="Cambria" pitchFamily="34" charset="-120"/>
              </a:rPr>
              <a:t>Profils utilisateurs &amp; Droits d'accès</a:t>
            </a:r>
            <a:endParaRPr lang="en-US" sz="2800" dirty="0"/>
          </a:p>
        </p:txBody>
      </p:sp>
      <p:sp>
        <p:nvSpPr>
          <p:cNvPr id="5" name="Shape 3"/>
          <p:cNvSpPr/>
          <p:nvPr/>
        </p:nvSpPr>
        <p:spPr>
          <a:xfrm>
            <a:off x="411480" y="1280160"/>
            <a:ext cx="4160520" cy="1078992"/>
          </a:xfrm>
          <a:prstGeom prst="roundRect">
            <a:avLst>
              <a:gd name="adj" fmla="val 6780"/>
            </a:avLst>
          </a:prstGeom>
          <a:solidFill>
            <a:srgbClr val="0D2240"/>
          </a:solidFill>
          <a:ln w="12700">
            <a:solidFill>
              <a:srgbClr val="0D2240"/>
            </a:solidFill>
            <a:prstDash val="solid"/>
          </a:ln>
        </p:spPr>
      </p:sp>
      <p:sp>
        <p:nvSpPr>
          <p:cNvPr id="6" name="Text 4"/>
          <p:cNvSpPr/>
          <p:nvPr/>
        </p:nvSpPr>
        <p:spPr>
          <a:xfrm>
            <a:off x="548640" y="1371600"/>
            <a:ext cx="3886200" cy="347472"/>
          </a:xfrm>
          <a:prstGeom prst="rect">
            <a:avLst/>
          </a:prstGeom>
          <a:noFill/>
          <a:ln/>
        </p:spPr>
        <p:txBody>
          <a:bodyPr wrap="square" lIns="0" tIns="0" rIns="0" bIns="0" rtlCol="0" anchor="t"/>
          <a:lstStyle/>
          <a:p>
            <a:pPr algn="l" indent="0" marL="0">
              <a:buNone/>
            </a:pPr>
            <a:r>
              <a:rPr lang="en-US" sz="1100" b="1" dirty="0">
                <a:solidFill>
                  <a:srgbClr val="FFFFFF"/>
                </a:solidFill>
              </a:rPr>
              <a:t>Administrateur national</a:t>
            </a:r>
            <a:endParaRPr lang="en-US" sz="1100" dirty="0"/>
          </a:p>
        </p:txBody>
      </p:sp>
      <p:sp>
        <p:nvSpPr>
          <p:cNvPr id="7" name="Text 5"/>
          <p:cNvSpPr/>
          <p:nvPr/>
        </p:nvSpPr>
        <p:spPr>
          <a:xfrm>
            <a:off x="548640" y="1737360"/>
            <a:ext cx="3886200" cy="530352"/>
          </a:xfrm>
          <a:prstGeom prst="rect">
            <a:avLst/>
          </a:prstGeom>
          <a:noFill/>
          <a:ln/>
        </p:spPr>
        <p:txBody>
          <a:bodyPr wrap="square" lIns="0" tIns="0" rIns="0" bIns="0" rtlCol="0" anchor="t"/>
          <a:lstStyle/>
          <a:p>
            <a:pPr algn="l" indent="0" marL="0">
              <a:buNone/>
            </a:pPr>
            <a:r>
              <a:rPr lang="en-US" sz="950" dirty="0">
                <a:solidFill>
                  <a:srgbClr val="E8F0FF"/>
                </a:solidFill>
              </a:rPr>
              <a:t>Accès complet · Paramétrage global · Création des comptes</a:t>
            </a:r>
            <a:endParaRPr lang="en-US" sz="950" dirty="0"/>
          </a:p>
        </p:txBody>
      </p:sp>
      <p:sp>
        <p:nvSpPr>
          <p:cNvPr id="8" name="Shape 6"/>
          <p:cNvSpPr/>
          <p:nvPr/>
        </p:nvSpPr>
        <p:spPr>
          <a:xfrm>
            <a:off x="4846320" y="1280160"/>
            <a:ext cx="4160520" cy="1078992"/>
          </a:xfrm>
          <a:prstGeom prst="roundRect">
            <a:avLst>
              <a:gd name="adj" fmla="val 6780"/>
            </a:avLst>
          </a:prstGeom>
          <a:solidFill>
            <a:srgbClr val="1A4F8A"/>
          </a:solidFill>
          <a:ln w="12700">
            <a:solidFill>
              <a:srgbClr val="1A4F8A"/>
            </a:solidFill>
            <a:prstDash val="solid"/>
          </a:ln>
        </p:spPr>
      </p:sp>
      <p:sp>
        <p:nvSpPr>
          <p:cNvPr id="9" name="Text 7"/>
          <p:cNvSpPr/>
          <p:nvPr/>
        </p:nvSpPr>
        <p:spPr>
          <a:xfrm>
            <a:off x="4983480" y="1371600"/>
            <a:ext cx="3886200" cy="347472"/>
          </a:xfrm>
          <a:prstGeom prst="rect">
            <a:avLst/>
          </a:prstGeom>
          <a:noFill/>
          <a:ln/>
        </p:spPr>
        <p:txBody>
          <a:bodyPr wrap="square" lIns="0" tIns="0" rIns="0" bIns="0" rtlCol="0" anchor="t"/>
          <a:lstStyle/>
          <a:p>
            <a:pPr algn="l" indent="0" marL="0">
              <a:buNone/>
            </a:pPr>
            <a:r>
              <a:rPr lang="en-US" sz="1100" b="1" dirty="0">
                <a:solidFill>
                  <a:srgbClr val="FFFFFF"/>
                </a:solidFill>
              </a:rPr>
              <a:t>Direction des RH</a:t>
            </a:r>
            <a:endParaRPr lang="en-US" sz="1100" dirty="0"/>
          </a:p>
        </p:txBody>
      </p:sp>
      <p:sp>
        <p:nvSpPr>
          <p:cNvPr id="10" name="Text 8"/>
          <p:cNvSpPr/>
          <p:nvPr/>
        </p:nvSpPr>
        <p:spPr>
          <a:xfrm>
            <a:off x="4983480" y="1737360"/>
            <a:ext cx="3886200" cy="530352"/>
          </a:xfrm>
          <a:prstGeom prst="rect">
            <a:avLst/>
          </a:prstGeom>
          <a:noFill/>
          <a:ln/>
        </p:spPr>
        <p:txBody>
          <a:bodyPr wrap="square" lIns="0" tIns="0" rIns="0" bIns="0" rtlCol="0" anchor="t"/>
          <a:lstStyle/>
          <a:p>
            <a:pPr algn="l" indent="0" marL="0">
              <a:buNone/>
            </a:pPr>
            <a:r>
              <a:rPr lang="en-US" sz="950" dirty="0">
                <a:solidFill>
                  <a:srgbClr val="E8F0FF"/>
                </a:solidFill>
              </a:rPr>
              <a:t>Gestion agents · Mise à jour dossiers · Affectations &amp; statuts · Rapports</a:t>
            </a:r>
            <a:endParaRPr lang="en-US" sz="950" dirty="0"/>
          </a:p>
        </p:txBody>
      </p:sp>
      <p:sp>
        <p:nvSpPr>
          <p:cNvPr id="11" name="Shape 9"/>
          <p:cNvSpPr/>
          <p:nvPr/>
        </p:nvSpPr>
        <p:spPr>
          <a:xfrm>
            <a:off x="411480" y="2514600"/>
            <a:ext cx="4160520" cy="1078992"/>
          </a:xfrm>
          <a:prstGeom prst="roundRect">
            <a:avLst>
              <a:gd name="adj" fmla="val 6780"/>
            </a:avLst>
          </a:prstGeom>
          <a:solidFill>
            <a:srgbClr val="2E7FC1"/>
          </a:solidFill>
          <a:ln w="12700">
            <a:solidFill>
              <a:srgbClr val="2E7FC1"/>
            </a:solidFill>
            <a:prstDash val="solid"/>
          </a:ln>
        </p:spPr>
      </p:sp>
      <p:sp>
        <p:nvSpPr>
          <p:cNvPr id="12" name="Text 10"/>
          <p:cNvSpPr/>
          <p:nvPr/>
        </p:nvSpPr>
        <p:spPr>
          <a:xfrm>
            <a:off x="548640" y="2606040"/>
            <a:ext cx="3886200" cy="347472"/>
          </a:xfrm>
          <a:prstGeom prst="rect">
            <a:avLst/>
          </a:prstGeom>
          <a:noFill/>
          <a:ln/>
        </p:spPr>
        <p:txBody>
          <a:bodyPr wrap="square" lIns="0" tIns="0" rIns="0" bIns="0" rtlCol="0" anchor="t"/>
          <a:lstStyle/>
          <a:p>
            <a:pPr algn="l" indent="0" marL="0">
              <a:buNone/>
            </a:pPr>
            <a:r>
              <a:rPr lang="en-US" sz="1100" b="1" dirty="0">
                <a:solidFill>
                  <a:srgbClr val="FFFFFF"/>
                </a:solidFill>
              </a:rPr>
              <a:t>Commandement d'unité</a:t>
            </a:r>
            <a:endParaRPr lang="en-US" sz="1100" dirty="0"/>
          </a:p>
        </p:txBody>
      </p:sp>
      <p:sp>
        <p:nvSpPr>
          <p:cNvPr id="13" name="Text 11"/>
          <p:cNvSpPr/>
          <p:nvPr/>
        </p:nvSpPr>
        <p:spPr>
          <a:xfrm>
            <a:off x="548640" y="2971800"/>
            <a:ext cx="3886200" cy="530352"/>
          </a:xfrm>
          <a:prstGeom prst="rect">
            <a:avLst/>
          </a:prstGeom>
          <a:noFill/>
          <a:ln/>
        </p:spPr>
        <p:txBody>
          <a:bodyPr wrap="square" lIns="0" tIns="0" rIns="0" bIns="0" rtlCol="0" anchor="t"/>
          <a:lstStyle/>
          <a:p>
            <a:pPr algn="l" indent="0" marL="0">
              <a:buNone/>
            </a:pPr>
            <a:r>
              <a:rPr lang="en-US" sz="950" dirty="0">
                <a:solidFill>
                  <a:srgbClr val="E8F0FF"/>
                </a:solidFill>
              </a:rPr>
              <a:t>Consultation agents de l'unité · Statuts &amp; affectations</a:t>
            </a:r>
            <a:endParaRPr lang="en-US" sz="950" dirty="0"/>
          </a:p>
        </p:txBody>
      </p:sp>
      <p:sp>
        <p:nvSpPr>
          <p:cNvPr id="14" name="Shape 12"/>
          <p:cNvSpPr/>
          <p:nvPr/>
        </p:nvSpPr>
        <p:spPr>
          <a:xfrm>
            <a:off x="4846320" y="2514600"/>
            <a:ext cx="4160520" cy="1078992"/>
          </a:xfrm>
          <a:prstGeom prst="roundRect">
            <a:avLst>
              <a:gd name="adj" fmla="val 6780"/>
            </a:avLst>
          </a:prstGeom>
          <a:solidFill>
            <a:srgbClr val="2E8B57"/>
          </a:solidFill>
          <a:ln w="12700">
            <a:solidFill>
              <a:srgbClr val="2E8B57"/>
            </a:solidFill>
            <a:prstDash val="solid"/>
          </a:ln>
        </p:spPr>
      </p:sp>
      <p:sp>
        <p:nvSpPr>
          <p:cNvPr id="15" name="Text 13"/>
          <p:cNvSpPr/>
          <p:nvPr/>
        </p:nvSpPr>
        <p:spPr>
          <a:xfrm>
            <a:off x="4983480" y="2606040"/>
            <a:ext cx="3886200" cy="347472"/>
          </a:xfrm>
          <a:prstGeom prst="rect">
            <a:avLst/>
          </a:prstGeom>
          <a:noFill/>
          <a:ln/>
        </p:spPr>
        <p:txBody>
          <a:bodyPr wrap="square" lIns="0" tIns="0" rIns="0" bIns="0" rtlCol="0" anchor="t"/>
          <a:lstStyle/>
          <a:p>
            <a:pPr algn="l" indent="0" marL="0">
              <a:buNone/>
            </a:pPr>
            <a:r>
              <a:rPr lang="en-US" sz="1100" b="1" dirty="0">
                <a:solidFill>
                  <a:srgbClr val="FFFFFF"/>
                </a:solidFill>
              </a:rPr>
              <a:t>Écoles de formation</a:t>
            </a:r>
            <a:endParaRPr lang="en-US" sz="1100" dirty="0"/>
          </a:p>
        </p:txBody>
      </p:sp>
      <p:sp>
        <p:nvSpPr>
          <p:cNvPr id="16" name="Text 14"/>
          <p:cNvSpPr/>
          <p:nvPr/>
        </p:nvSpPr>
        <p:spPr>
          <a:xfrm>
            <a:off x="4983480" y="2971800"/>
            <a:ext cx="3886200" cy="530352"/>
          </a:xfrm>
          <a:prstGeom prst="rect">
            <a:avLst/>
          </a:prstGeom>
          <a:noFill/>
          <a:ln/>
        </p:spPr>
        <p:txBody>
          <a:bodyPr wrap="square" lIns="0" tIns="0" rIns="0" bIns="0" rtlCol="0" anchor="t"/>
          <a:lstStyle/>
          <a:p>
            <a:pPr algn="l" indent="0" marL="0">
              <a:buNone/>
            </a:pPr>
            <a:r>
              <a:rPr lang="en-US" sz="950" dirty="0">
                <a:solidFill>
                  <a:srgbClr val="E8F0FF"/>
                </a:solidFill>
              </a:rPr>
              <a:t>Enregistrement recrues · Suivi promotions · Validation diplômes</a:t>
            </a:r>
            <a:endParaRPr lang="en-US" sz="950" dirty="0"/>
          </a:p>
        </p:txBody>
      </p:sp>
      <p:sp>
        <p:nvSpPr>
          <p:cNvPr id="17" name="Shape 15"/>
          <p:cNvSpPr/>
          <p:nvPr/>
        </p:nvSpPr>
        <p:spPr>
          <a:xfrm>
            <a:off x="411480" y="3749040"/>
            <a:ext cx="4160520" cy="1078992"/>
          </a:xfrm>
          <a:prstGeom prst="roundRect">
            <a:avLst>
              <a:gd name="adj" fmla="val 6780"/>
            </a:avLst>
          </a:prstGeom>
          <a:solidFill>
            <a:srgbClr val="7B68EE"/>
          </a:solidFill>
          <a:ln w="12700">
            <a:solidFill>
              <a:srgbClr val="7B68EE"/>
            </a:solidFill>
            <a:prstDash val="solid"/>
          </a:ln>
        </p:spPr>
      </p:sp>
      <p:sp>
        <p:nvSpPr>
          <p:cNvPr id="18" name="Text 16"/>
          <p:cNvSpPr/>
          <p:nvPr/>
        </p:nvSpPr>
        <p:spPr>
          <a:xfrm>
            <a:off x="548640" y="3840480"/>
            <a:ext cx="3886200" cy="347472"/>
          </a:xfrm>
          <a:prstGeom prst="rect">
            <a:avLst/>
          </a:prstGeom>
          <a:noFill/>
          <a:ln/>
        </p:spPr>
        <p:txBody>
          <a:bodyPr wrap="square" lIns="0" tIns="0" rIns="0" bIns="0" rtlCol="0" anchor="t"/>
          <a:lstStyle/>
          <a:p>
            <a:pPr algn="l" indent="0" marL="0">
              <a:buNone/>
            </a:pPr>
            <a:r>
              <a:rPr lang="en-US" sz="1100" b="1" dirty="0">
                <a:solidFill>
                  <a:srgbClr val="FFFFFF"/>
                </a:solidFill>
              </a:rPr>
              <a:t>Service médical</a:t>
            </a:r>
            <a:endParaRPr lang="en-US" sz="1100" dirty="0"/>
          </a:p>
        </p:txBody>
      </p:sp>
      <p:sp>
        <p:nvSpPr>
          <p:cNvPr id="19" name="Text 17"/>
          <p:cNvSpPr/>
          <p:nvPr/>
        </p:nvSpPr>
        <p:spPr>
          <a:xfrm>
            <a:off x="548640" y="4206240"/>
            <a:ext cx="3886200" cy="530352"/>
          </a:xfrm>
          <a:prstGeom prst="rect">
            <a:avLst/>
          </a:prstGeom>
          <a:noFill/>
          <a:ln/>
        </p:spPr>
        <p:txBody>
          <a:bodyPr wrap="square" lIns="0" tIns="0" rIns="0" bIns="0" rtlCol="0" anchor="t"/>
          <a:lstStyle/>
          <a:p>
            <a:pPr algn="l" indent="0" marL="0">
              <a:buNone/>
            </a:pPr>
            <a:r>
              <a:rPr lang="en-US" sz="950" dirty="0">
                <a:solidFill>
                  <a:srgbClr val="E8F0FF"/>
                </a:solidFill>
              </a:rPr>
              <a:t>Données de santé uniquement · Visites médicales · Aptitudes</a:t>
            </a:r>
            <a:endParaRPr lang="en-US" sz="950" dirty="0"/>
          </a:p>
        </p:txBody>
      </p:sp>
      <p:sp>
        <p:nvSpPr>
          <p:cNvPr id="20" name="Shape 18"/>
          <p:cNvSpPr/>
          <p:nvPr/>
        </p:nvSpPr>
        <p:spPr>
          <a:xfrm>
            <a:off x="4846320" y="3749040"/>
            <a:ext cx="4160520" cy="1078992"/>
          </a:xfrm>
          <a:prstGeom prst="roundRect">
            <a:avLst>
              <a:gd name="adj" fmla="val 6780"/>
            </a:avLst>
          </a:prstGeom>
          <a:solidFill>
            <a:srgbClr val="D4874A"/>
          </a:solidFill>
          <a:ln w="12700">
            <a:solidFill>
              <a:srgbClr val="D4874A"/>
            </a:solidFill>
            <a:prstDash val="solid"/>
          </a:ln>
        </p:spPr>
      </p:sp>
      <p:sp>
        <p:nvSpPr>
          <p:cNvPr id="21" name="Text 19"/>
          <p:cNvSpPr/>
          <p:nvPr/>
        </p:nvSpPr>
        <p:spPr>
          <a:xfrm>
            <a:off x="4983480" y="3840480"/>
            <a:ext cx="3886200" cy="347472"/>
          </a:xfrm>
          <a:prstGeom prst="rect">
            <a:avLst/>
          </a:prstGeom>
          <a:noFill/>
          <a:ln/>
        </p:spPr>
        <p:txBody>
          <a:bodyPr wrap="square" lIns="0" tIns="0" rIns="0" bIns="0" rtlCol="0" anchor="t"/>
          <a:lstStyle/>
          <a:p>
            <a:pPr algn="l" indent="0" marL="0">
              <a:buNone/>
            </a:pPr>
            <a:r>
              <a:rPr lang="en-US" sz="1100" b="1" dirty="0">
                <a:solidFill>
                  <a:srgbClr val="FFFFFF"/>
                </a:solidFill>
              </a:rPr>
              <a:t>Agent concerné</a:t>
            </a:r>
            <a:endParaRPr lang="en-US" sz="1100" dirty="0"/>
          </a:p>
        </p:txBody>
      </p:sp>
      <p:sp>
        <p:nvSpPr>
          <p:cNvPr id="22" name="Text 20"/>
          <p:cNvSpPr/>
          <p:nvPr/>
        </p:nvSpPr>
        <p:spPr>
          <a:xfrm>
            <a:off x="4983480" y="4206240"/>
            <a:ext cx="3886200" cy="530352"/>
          </a:xfrm>
          <a:prstGeom prst="rect">
            <a:avLst/>
          </a:prstGeom>
          <a:noFill/>
          <a:ln/>
        </p:spPr>
        <p:txBody>
          <a:bodyPr wrap="square" lIns="0" tIns="0" rIns="0" bIns="0" rtlCol="0" anchor="t"/>
          <a:lstStyle/>
          <a:p>
            <a:pPr algn="l" indent="0" marL="0">
              <a:buNone/>
            </a:pPr>
            <a:r>
              <a:rPr lang="en-US" sz="950" dirty="0">
                <a:solidFill>
                  <a:srgbClr val="E8F0FF"/>
                </a:solidFill>
              </a:rPr>
              <a:t>Consultation de son propre dossier · Demande de correction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411480" y="164592"/>
            <a:ext cx="2011680" cy="292608"/>
          </a:xfrm>
          <a:prstGeom prst="roundRect">
            <a:avLst>
              <a:gd name="adj" fmla="val 18750"/>
            </a:avLst>
          </a:prstGeom>
          <a:solidFill>
            <a:srgbClr val="2E7FC1"/>
          </a:solidFill>
          <a:ln w="12700">
            <a:solidFill>
              <a:srgbClr val="2E7FC1"/>
            </a:solidFill>
            <a:prstDash val="solid"/>
          </a:ln>
        </p:spPr>
      </p:sp>
      <p:sp>
        <p:nvSpPr>
          <p:cNvPr id="3" name="Text 1"/>
          <p:cNvSpPr/>
          <p:nvPr/>
        </p:nvSpPr>
        <p:spPr>
          <a:xfrm>
            <a:off x="411480" y="164592"/>
            <a:ext cx="2011680" cy="292608"/>
          </a:xfrm>
          <a:prstGeom prst="rect">
            <a:avLst/>
          </a:prstGeom>
          <a:noFill/>
          <a:ln/>
        </p:spPr>
        <p:txBody>
          <a:bodyPr wrap="square" lIns="0" tIns="0" rIns="0" bIns="0" rtlCol="0" anchor="ctr"/>
          <a:lstStyle/>
          <a:p>
            <a:pPr algn="ctr" indent="0" marL="0">
              <a:buNone/>
            </a:pPr>
            <a:r>
              <a:rPr lang="en-US" sz="800" b="1" dirty="0">
                <a:solidFill>
                  <a:srgbClr val="FFFFFF"/>
                </a:solidFill>
              </a:rPr>
              <a:t>ARCHITECTURE</a:t>
            </a:r>
            <a:endParaRPr lang="en-US" sz="800" dirty="0"/>
          </a:p>
        </p:txBody>
      </p:sp>
      <p:sp>
        <p:nvSpPr>
          <p:cNvPr id="4" name="Text 2"/>
          <p:cNvSpPr/>
          <p:nvPr/>
        </p:nvSpPr>
        <p:spPr>
          <a:xfrm>
            <a:off x="411480" y="548640"/>
            <a:ext cx="8321040" cy="594360"/>
          </a:xfrm>
          <a:prstGeom prst="rect">
            <a:avLst/>
          </a:prstGeom>
          <a:noFill/>
          <a:ln/>
        </p:spPr>
        <p:txBody>
          <a:bodyPr wrap="square" lIns="0" tIns="0" rIns="0" bIns="0" rtlCol="0" anchor="ctr"/>
          <a:lstStyle/>
          <a:p>
            <a:pPr algn="l" indent="0" marL="0">
              <a:buNone/>
            </a:pPr>
            <a:r>
              <a:rPr lang="en-US" sz="2800" b="1" dirty="0">
                <a:solidFill>
                  <a:srgbClr val="0D2240"/>
                </a:solidFill>
                <a:latin typeface="Cambria" pitchFamily="34" charset="0"/>
                <a:ea typeface="Cambria" pitchFamily="34" charset="-122"/>
                <a:cs typeface="Cambria" pitchFamily="34" charset="-120"/>
              </a:rPr>
              <a:t>Architecture technique cible</a:t>
            </a:r>
            <a:endParaRPr lang="en-US" sz="2800" dirty="0"/>
          </a:p>
        </p:txBody>
      </p:sp>
      <p:sp>
        <p:nvSpPr>
          <p:cNvPr id="5" name="Shape 3"/>
          <p:cNvSpPr/>
          <p:nvPr/>
        </p:nvSpPr>
        <p:spPr>
          <a:xfrm>
            <a:off x="411480" y="1280160"/>
            <a:ext cx="8321040" cy="804672"/>
          </a:xfrm>
          <a:prstGeom prst="roundRect">
            <a:avLst>
              <a:gd name="adj" fmla="val 7955"/>
            </a:avLst>
          </a:prstGeom>
          <a:solidFill>
            <a:srgbClr val="2E7FC1"/>
          </a:solidFill>
          <a:ln w="12700">
            <a:solidFill>
              <a:srgbClr val="2E7FC1"/>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335024"/>
            <a:ext cx="3200400" cy="329184"/>
          </a:xfrm>
          <a:prstGeom prst="rect">
            <a:avLst/>
          </a:prstGeom>
          <a:noFill/>
          <a:ln/>
        </p:spPr>
        <p:txBody>
          <a:bodyPr wrap="square" lIns="0" tIns="0" rIns="0" bIns="0" rtlCol="0" anchor="t"/>
          <a:lstStyle/>
          <a:p>
            <a:pPr algn="l" indent="0" marL="0">
              <a:buNone/>
            </a:pPr>
            <a:r>
              <a:rPr lang="en-US" sz="1200" b="1" dirty="0">
                <a:solidFill>
                  <a:srgbClr val="FFFFFF"/>
                </a:solidFill>
              </a:rPr>
              <a:t>🖥  Couche Présentation</a:t>
            </a:r>
            <a:endParaRPr lang="en-US" sz="1200" dirty="0"/>
          </a:p>
        </p:txBody>
      </p:sp>
      <p:sp>
        <p:nvSpPr>
          <p:cNvPr id="7" name="Text 5"/>
          <p:cNvSpPr/>
          <p:nvPr/>
        </p:nvSpPr>
        <p:spPr>
          <a:xfrm>
            <a:off x="3657600" y="1335024"/>
            <a:ext cx="4846320" cy="658368"/>
          </a:xfrm>
          <a:prstGeom prst="rect">
            <a:avLst/>
          </a:prstGeom>
          <a:noFill/>
          <a:ln/>
        </p:spPr>
        <p:txBody>
          <a:bodyPr wrap="square" lIns="0" tIns="0" rIns="0" bIns="0" rtlCol="0" anchor="t"/>
          <a:lstStyle/>
          <a:p>
            <a:pPr algn="l" indent="0" marL="0">
              <a:buNone/>
            </a:pPr>
            <a:r>
              <a:rPr lang="en-US" sz="1000" dirty="0">
                <a:solidFill>
                  <a:srgbClr val="D6E8F8"/>
                </a:solidFill>
              </a:rPr>
              <a:t>Interface web sécurisée · Tableaux de bord · Formulaires · Espace consultation</a:t>
            </a:r>
            <a:endParaRPr lang="en-US" sz="1000" dirty="0"/>
          </a:p>
        </p:txBody>
      </p:sp>
      <p:sp>
        <p:nvSpPr>
          <p:cNvPr id="8" name="Shape 6"/>
          <p:cNvSpPr/>
          <p:nvPr/>
        </p:nvSpPr>
        <p:spPr>
          <a:xfrm>
            <a:off x="411480" y="2212848"/>
            <a:ext cx="8321040" cy="804672"/>
          </a:xfrm>
          <a:prstGeom prst="roundRect">
            <a:avLst>
              <a:gd name="adj" fmla="val 7955"/>
            </a:avLst>
          </a:prstGeom>
          <a:solidFill>
            <a:srgbClr val="1A4F8A"/>
          </a:solidFill>
          <a:ln w="12700">
            <a:solidFill>
              <a:srgbClr val="1A4F8A"/>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267712"/>
            <a:ext cx="3200400" cy="329184"/>
          </a:xfrm>
          <a:prstGeom prst="rect">
            <a:avLst/>
          </a:prstGeom>
          <a:noFill/>
          <a:ln/>
        </p:spPr>
        <p:txBody>
          <a:bodyPr wrap="square" lIns="0" tIns="0" rIns="0" bIns="0" rtlCol="0" anchor="t"/>
          <a:lstStyle/>
          <a:p>
            <a:pPr algn="l" indent="0" marL="0">
              <a:buNone/>
            </a:pPr>
            <a:r>
              <a:rPr lang="en-US" sz="1200" b="1" dirty="0">
                <a:solidFill>
                  <a:srgbClr val="FFFFFF"/>
                </a:solidFill>
              </a:rPr>
              <a:t>⚙  Couche Applicative</a:t>
            </a:r>
            <a:endParaRPr lang="en-US" sz="1200" dirty="0"/>
          </a:p>
        </p:txBody>
      </p:sp>
      <p:sp>
        <p:nvSpPr>
          <p:cNvPr id="10" name="Text 8"/>
          <p:cNvSpPr/>
          <p:nvPr/>
        </p:nvSpPr>
        <p:spPr>
          <a:xfrm>
            <a:off x="3657600" y="2267712"/>
            <a:ext cx="4846320" cy="658368"/>
          </a:xfrm>
          <a:prstGeom prst="rect">
            <a:avLst/>
          </a:prstGeom>
          <a:noFill/>
          <a:ln/>
        </p:spPr>
        <p:txBody>
          <a:bodyPr wrap="square" lIns="0" tIns="0" rIns="0" bIns="0" rtlCol="0" anchor="t"/>
          <a:lstStyle/>
          <a:p>
            <a:pPr algn="l" indent="0" marL="0">
              <a:buNone/>
            </a:pPr>
            <a:r>
              <a:rPr lang="en-US" sz="1000" dirty="0">
                <a:solidFill>
                  <a:srgbClr val="D6E8F8"/>
                </a:solidFill>
              </a:rPr>
              <a:t>Services métiers · Moteur de règles · Gestion des flux · API sécurisées</a:t>
            </a:r>
            <a:endParaRPr lang="en-US" sz="1000" dirty="0"/>
          </a:p>
        </p:txBody>
      </p:sp>
      <p:sp>
        <p:nvSpPr>
          <p:cNvPr id="11" name="Shape 9"/>
          <p:cNvSpPr/>
          <p:nvPr/>
        </p:nvSpPr>
        <p:spPr>
          <a:xfrm>
            <a:off x="411480" y="3145536"/>
            <a:ext cx="8321040" cy="804672"/>
          </a:xfrm>
          <a:prstGeom prst="roundRect">
            <a:avLst>
              <a:gd name="adj" fmla="val 7955"/>
            </a:avLst>
          </a:prstGeom>
          <a:solidFill>
            <a:srgbClr val="0D2240"/>
          </a:solidFill>
          <a:ln w="12700">
            <a:solidFill>
              <a:srgbClr val="0D2240"/>
            </a:solidFill>
            <a:prstDash val="solid"/>
          </a:ln>
          <a:effectLst>
            <a:outerShdw sx="100000" sy="100000" kx="0" ky="0" algn="bl" rotWithShape="0" blurRad="101600" dist="38100" dir="2700000">
              <a:srgbClr val="000000">
                <a:alpha val="12000"/>
              </a:srgbClr>
            </a:outerShdw>
          </a:effectLst>
        </p:spPr>
      </p:sp>
      <p:sp>
        <p:nvSpPr>
          <p:cNvPr id="12" name="Text 10"/>
          <p:cNvSpPr/>
          <p:nvPr/>
        </p:nvSpPr>
        <p:spPr>
          <a:xfrm>
            <a:off x="594360" y="3200400"/>
            <a:ext cx="3200400" cy="329184"/>
          </a:xfrm>
          <a:prstGeom prst="rect">
            <a:avLst/>
          </a:prstGeom>
          <a:noFill/>
          <a:ln/>
        </p:spPr>
        <p:txBody>
          <a:bodyPr wrap="square" lIns="0" tIns="0" rIns="0" bIns="0" rtlCol="0" anchor="t"/>
          <a:lstStyle/>
          <a:p>
            <a:pPr algn="l" indent="0" marL="0">
              <a:buNone/>
            </a:pPr>
            <a:r>
              <a:rPr lang="en-US" sz="1200" b="1" dirty="0">
                <a:solidFill>
                  <a:srgbClr val="FFFFFF"/>
                </a:solidFill>
              </a:rPr>
              <a:t>🗄  Couche Données</a:t>
            </a:r>
            <a:endParaRPr lang="en-US" sz="1200" dirty="0"/>
          </a:p>
        </p:txBody>
      </p:sp>
      <p:sp>
        <p:nvSpPr>
          <p:cNvPr id="13" name="Text 11"/>
          <p:cNvSpPr/>
          <p:nvPr/>
        </p:nvSpPr>
        <p:spPr>
          <a:xfrm>
            <a:off x="3657600" y="3200400"/>
            <a:ext cx="4846320" cy="658368"/>
          </a:xfrm>
          <a:prstGeom prst="rect">
            <a:avLst/>
          </a:prstGeom>
          <a:noFill/>
          <a:ln/>
        </p:spPr>
        <p:txBody>
          <a:bodyPr wrap="square" lIns="0" tIns="0" rIns="0" bIns="0" rtlCol="0" anchor="t"/>
          <a:lstStyle/>
          <a:p>
            <a:pPr algn="l" indent="0" marL="0">
              <a:buNone/>
            </a:pPr>
            <a:r>
              <a:rPr lang="en-US" sz="1000" dirty="0">
                <a:solidFill>
                  <a:srgbClr val="D6E8F8"/>
                </a:solidFill>
              </a:rPr>
              <a:t>Base de données principale · Stockage documentaire · Journal d'audit · Sauvegardes</a:t>
            </a:r>
            <a:endParaRPr lang="en-US" sz="1000" dirty="0"/>
          </a:p>
        </p:txBody>
      </p:sp>
      <p:sp>
        <p:nvSpPr>
          <p:cNvPr id="14" name="Shape 12"/>
          <p:cNvSpPr/>
          <p:nvPr/>
        </p:nvSpPr>
        <p:spPr>
          <a:xfrm>
            <a:off x="411480" y="4078224"/>
            <a:ext cx="8321040" cy="804672"/>
          </a:xfrm>
          <a:prstGeom prst="roundRect">
            <a:avLst>
              <a:gd name="adj" fmla="val 7955"/>
            </a:avLst>
          </a:prstGeom>
          <a:solidFill>
            <a:srgbClr val="8B1A1A"/>
          </a:solidFill>
          <a:ln w="12700">
            <a:solidFill>
              <a:srgbClr val="8B1A1A"/>
            </a:solidFill>
            <a:prstDash val="solid"/>
          </a:ln>
          <a:effectLst>
            <a:outerShdw sx="100000" sy="100000" kx="0" ky="0" algn="bl" rotWithShape="0" blurRad="101600" dist="38100" dir="2700000">
              <a:srgbClr val="000000">
                <a:alpha val="12000"/>
              </a:srgbClr>
            </a:outerShdw>
          </a:effectLst>
        </p:spPr>
      </p:sp>
      <p:sp>
        <p:nvSpPr>
          <p:cNvPr id="15" name="Text 13"/>
          <p:cNvSpPr/>
          <p:nvPr/>
        </p:nvSpPr>
        <p:spPr>
          <a:xfrm>
            <a:off x="594360" y="4133088"/>
            <a:ext cx="3200400" cy="329184"/>
          </a:xfrm>
          <a:prstGeom prst="rect">
            <a:avLst/>
          </a:prstGeom>
          <a:noFill/>
          <a:ln/>
        </p:spPr>
        <p:txBody>
          <a:bodyPr wrap="square" lIns="0" tIns="0" rIns="0" bIns="0" rtlCol="0" anchor="t"/>
          <a:lstStyle/>
          <a:p>
            <a:pPr algn="l" indent="0" marL="0">
              <a:buNone/>
            </a:pPr>
            <a:r>
              <a:rPr lang="en-US" sz="1200" b="1" dirty="0">
                <a:solidFill>
                  <a:srgbClr val="FFFFFF"/>
                </a:solidFill>
              </a:rPr>
              <a:t>🔒  Couche Sécurité</a:t>
            </a:r>
            <a:endParaRPr lang="en-US" sz="1200" dirty="0"/>
          </a:p>
        </p:txBody>
      </p:sp>
      <p:sp>
        <p:nvSpPr>
          <p:cNvPr id="16" name="Text 14"/>
          <p:cNvSpPr/>
          <p:nvPr/>
        </p:nvSpPr>
        <p:spPr>
          <a:xfrm>
            <a:off x="3657600" y="4133088"/>
            <a:ext cx="4846320" cy="658368"/>
          </a:xfrm>
          <a:prstGeom prst="rect">
            <a:avLst/>
          </a:prstGeom>
          <a:noFill/>
          <a:ln/>
        </p:spPr>
        <p:txBody>
          <a:bodyPr wrap="square" lIns="0" tIns="0" rIns="0" bIns="0" rtlCol="0" anchor="t"/>
          <a:lstStyle/>
          <a:p>
            <a:pPr algn="l" indent="0" marL="0">
              <a:buNone/>
            </a:pPr>
            <a:r>
              <a:rPr lang="en-US" sz="1000" dirty="0">
                <a:solidFill>
                  <a:srgbClr val="D6E8F8"/>
                </a:solidFill>
              </a:rPr>
              <a:t>Contrôle d'accès · Chiffrement · Pare-feu applicatif · Alertes de sécurité</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164592"/>
            <a:ext cx="2011680" cy="292608"/>
          </a:xfrm>
          <a:prstGeom prst="roundRect">
            <a:avLst>
              <a:gd name="adj" fmla="val 18750"/>
            </a:avLst>
          </a:prstGeom>
          <a:solidFill>
            <a:srgbClr val="2E7FC1"/>
          </a:solidFill>
          <a:ln w="12700">
            <a:solidFill>
              <a:srgbClr val="2E7FC1"/>
            </a:solidFill>
            <a:prstDash val="solid"/>
          </a:ln>
        </p:spPr>
      </p:sp>
      <p:sp>
        <p:nvSpPr>
          <p:cNvPr id="3" name="Text 1"/>
          <p:cNvSpPr/>
          <p:nvPr/>
        </p:nvSpPr>
        <p:spPr>
          <a:xfrm>
            <a:off x="411480" y="164592"/>
            <a:ext cx="2011680" cy="292608"/>
          </a:xfrm>
          <a:prstGeom prst="rect">
            <a:avLst/>
          </a:prstGeom>
          <a:noFill/>
          <a:ln/>
        </p:spPr>
        <p:txBody>
          <a:bodyPr wrap="square" lIns="0" tIns="0" rIns="0" bIns="0" rtlCol="0" anchor="ctr"/>
          <a:lstStyle/>
          <a:p>
            <a:pPr algn="ctr" indent="0" marL="0">
              <a:buNone/>
            </a:pPr>
            <a:r>
              <a:rPr lang="en-US" sz="800" b="1" dirty="0">
                <a:solidFill>
                  <a:srgbClr val="FFFFFF"/>
                </a:solidFill>
              </a:rPr>
              <a:t>PLANNING</a:t>
            </a:r>
            <a:endParaRPr lang="en-US" sz="800" dirty="0"/>
          </a:p>
        </p:txBody>
      </p:sp>
      <p:sp>
        <p:nvSpPr>
          <p:cNvPr id="4" name="Text 2"/>
          <p:cNvSpPr/>
          <p:nvPr/>
        </p:nvSpPr>
        <p:spPr>
          <a:xfrm>
            <a:off x="411480" y="548640"/>
            <a:ext cx="8321040" cy="594360"/>
          </a:xfrm>
          <a:prstGeom prst="rect">
            <a:avLst/>
          </a:prstGeom>
          <a:noFill/>
          <a:ln/>
        </p:spPr>
        <p:txBody>
          <a:bodyPr wrap="square" lIns="0" tIns="0" rIns="0" bIns="0" rtlCol="0" anchor="ctr"/>
          <a:lstStyle/>
          <a:p>
            <a:pPr algn="l" indent="0" marL="0">
              <a:buNone/>
            </a:pPr>
            <a:r>
              <a:rPr lang="en-US" sz="2800" b="1" dirty="0">
                <a:solidFill>
                  <a:srgbClr val="0D2240"/>
                </a:solidFill>
                <a:latin typeface="Cambria" pitchFamily="34" charset="0"/>
                <a:ea typeface="Cambria" pitchFamily="34" charset="-122"/>
                <a:cs typeface="Cambria" pitchFamily="34" charset="-120"/>
              </a:rPr>
              <a:t>Phasage du projet</a:t>
            </a:r>
            <a:endParaRPr lang="en-US" sz="2800" dirty="0"/>
          </a:p>
        </p:txBody>
      </p:sp>
      <p:sp>
        <p:nvSpPr>
          <p:cNvPr id="5" name="Shape 3"/>
          <p:cNvSpPr/>
          <p:nvPr/>
        </p:nvSpPr>
        <p:spPr>
          <a:xfrm>
            <a:off x="411480" y="1828800"/>
            <a:ext cx="1463040" cy="2560320"/>
          </a:xfrm>
          <a:prstGeom prst="roundRect">
            <a:avLst>
              <a:gd name="adj" fmla="val 5000"/>
            </a:avLst>
          </a:prstGeom>
          <a:solidFill>
            <a:srgbClr val="2E7FC1"/>
          </a:solidFill>
          <a:ln w="12700">
            <a:solidFill>
              <a:srgbClr val="2E7FC1"/>
            </a:solidFill>
            <a:prstDash val="solid"/>
          </a:ln>
          <a:effectLst>
            <a:outerShdw sx="100000" sy="100000" kx="0" ky="0" algn="bl" rotWithShape="0" blurRad="101600" dist="38100" dir="2700000">
              <a:srgbClr val="000000">
                <a:alpha val="12000"/>
              </a:srgbClr>
            </a:outerShdw>
          </a:effectLst>
        </p:spPr>
      </p:sp>
      <p:sp>
        <p:nvSpPr>
          <p:cNvPr id="6" name="Shape 4"/>
          <p:cNvSpPr/>
          <p:nvPr/>
        </p:nvSpPr>
        <p:spPr>
          <a:xfrm>
            <a:off x="822960" y="2011680"/>
            <a:ext cx="640080" cy="640080"/>
          </a:xfrm>
          <a:prstGeom prst="ellipse">
            <a:avLst/>
          </a:prstGeom>
          <a:solidFill>
            <a:srgbClr val="FFFFFF">
              <a:alpha val="80000"/>
            </a:srgbClr>
          </a:solidFill>
          <a:ln w="25400">
            <a:solidFill>
              <a:srgbClr val="FFFFFF"/>
            </a:solidFill>
            <a:prstDash val="solid"/>
          </a:ln>
        </p:spPr>
      </p:sp>
      <p:sp>
        <p:nvSpPr>
          <p:cNvPr id="7" name="Text 5"/>
          <p:cNvSpPr/>
          <p:nvPr/>
        </p:nvSpPr>
        <p:spPr>
          <a:xfrm>
            <a:off x="822960" y="201168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8" name="Text 6"/>
          <p:cNvSpPr/>
          <p:nvPr/>
        </p:nvSpPr>
        <p:spPr>
          <a:xfrm>
            <a:off x="502920" y="2788920"/>
            <a:ext cx="1280160" cy="365760"/>
          </a:xfrm>
          <a:prstGeom prst="rect">
            <a:avLst/>
          </a:prstGeom>
          <a:noFill/>
          <a:ln/>
        </p:spPr>
        <p:txBody>
          <a:bodyPr wrap="square" lIns="0" tIns="0" rIns="0" bIns="0" rtlCol="0" anchor="t"/>
          <a:lstStyle/>
          <a:p>
            <a:pPr algn="ctr" indent="0" marL="0">
              <a:buNone/>
            </a:pPr>
            <a:r>
              <a:rPr lang="en-US" sz="1100" b="1" dirty="0">
                <a:solidFill>
                  <a:srgbClr val="FFFFFF"/>
                </a:solidFill>
              </a:rPr>
              <a:t>Cadrage</a:t>
            </a:r>
            <a:endParaRPr lang="en-US" sz="1100" dirty="0"/>
          </a:p>
        </p:txBody>
      </p:sp>
      <p:sp>
        <p:nvSpPr>
          <p:cNvPr id="9" name="Text 7"/>
          <p:cNvSpPr/>
          <p:nvPr/>
        </p:nvSpPr>
        <p:spPr>
          <a:xfrm>
            <a:off x="521208" y="3200400"/>
            <a:ext cx="1243584" cy="1097280"/>
          </a:xfrm>
          <a:prstGeom prst="rect">
            <a:avLst/>
          </a:prstGeom>
          <a:noFill/>
          <a:ln/>
        </p:spPr>
        <p:txBody>
          <a:bodyPr wrap="square" lIns="0" tIns="0" rIns="0" bIns="0" rtlCol="0" anchor="t"/>
          <a:lstStyle/>
          <a:p>
            <a:pPr algn="ctr" indent="0" marL="0">
              <a:buNone/>
            </a:pPr>
            <a:r>
              <a:rPr lang="en-US" sz="850" dirty="0">
                <a:solidFill>
                  <a:srgbClr val="E8F0FF"/>
                </a:solidFill>
              </a:rPr>
              <a:t>Analyse des besoins · Validation acteurs · Définition des rôles</a:t>
            </a:r>
            <a:endParaRPr lang="en-US" sz="850" dirty="0"/>
          </a:p>
        </p:txBody>
      </p:sp>
      <p:sp>
        <p:nvSpPr>
          <p:cNvPr id="10" name="Shape 8"/>
          <p:cNvSpPr/>
          <p:nvPr/>
        </p:nvSpPr>
        <p:spPr>
          <a:xfrm>
            <a:off x="2057400" y="1828800"/>
            <a:ext cx="1463040" cy="2560320"/>
          </a:xfrm>
          <a:prstGeom prst="roundRect">
            <a:avLst>
              <a:gd name="adj" fmla="val 5000"/>
            </a:avLst>
          </a:prstGeom>
          <a:solidFill>
            <a:srgbClr val="1A4F8A"/>
          </a:solidFill>
          <a:ln w="12700">
            <a:solidFill>
              <a:srgbClr val="1A4F8A"/>
            </a:solidFill>
            <a:prstDash val="solid"/>
          </a:ln>
          <a:effectLst>
            <a:outerShdw sx="100000" sy="100000" kx="0" ky="0" algn="bl" rotWithShape="0" blurRad="101600" dist="38100" dir="2700000">
              <a:srgbClr val="000000">
                <a:alpha val="12000"/>
              </a:srgbClr>
            </a:outerShdw>
          </a:effectLst>
        </p:spPr>
      </p:sp>
      <p:sp>
        <p:nvSpPr>
          <p:cNvPr id="11" name="Shape 9"/>
          <p:cNvSpPr/>
          <p:nvPr/>
        </p:nvSpPr>
        <p:spPr>
          <a:xfrm>
            <a:off x="2468880" y="2011680"/>
            <a:ext cx="640080" cy="640080"/>
          </a:xfrm>
          <a:prstGeom prst="ellipse">
            <a:avLst/>
          </a:prstGeom>
          <a:solidFill>
            <a:srgbClr val="FFFFFF">
              <a:alpha val="80000"/>
            </a:srgbClr>
          </a:solidFill>
          <a:ln w="25400">
            <a:solidFill>
              <a:srgbClr val="FFFFFF"/>
            </a:solidFill>
            <a:prstDash val="solid"/>
          </a:ln>
        </p:spPr>
      </p:sp>
      <p:sp>
        <p:nvSpPr>
          <p:cNvPr id="12" name="Text 10"/>
          <p:cNvSpPr/>
          <p:nvPr/>
        </p:nvSpPr>
        <p:spPr>
          <a:xfrm>
            <a:off x="2468880" y="201168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3" name="Text 11"/>
          <p:cNvSpPr/>
          <p:nvPr/>
        </p:nvSpPr>
        <p:spPr>
          <a:xfrm>
            <a:off x="2148840" y="2788920"/>
            <a:ext cx="1280160" cy="365760"/>
          </a:xfrm>
          <a:prstGeom prst="rect">
            <a:avLst/>
          </a:prstGeom>
          <a:noFill/>
          <a:ln/>
        </p:spPr>
        <p:txBody>
          <a:bodyPr wrap="square" lIns="0" tIns="0" rIns="0" bIns="0" rtlCol="0" anchor="t"/>
          <a:lstStyle/>
          <a:p>
            <a:pPr algn="ctr" indent="0" marL="0">
              <a:buNone/>
            </a:pPr>
            <a:r>
              <a:rPr lang="en-US" sz="1100" b="1" dirty="0">
                <a:solidFill>
                  <a:srgbClr val="FFFFFF"/>
                </a:solidFill>
              </a:rPr>
              <a:t>Conception</a:t>
            </a:r>
            <a:endParaRPr lang="en-US" sz="1100" dirty="0"/>
          </a:p>
        </p:txBody>
      </p:sp>
      <p:sp>
        <p:nvSpPr>
          <p:cNvPr id="14" name="Text 12"/>
          <p:cNvSpPr/>
          <p:nvPr/>
        </p:nvSpPr>
        <p:spPr>
          <a:xfrm>
            <a:off x="2167128" y="3200400"/>
            <a:ext cx="1243584" cy="1097280"/>
          </a:xfrm>
          <a:prstGeom prst="rect">
            <a:avLst/>
          </a:prstGeom>
          <a:noFill/>
          <a:ln/>
        </p:spPr>
        <p:txBody>
          <a:bodyPr wrap="square" lIns="0" tIns="0" rIns="0" bIns="0" rtlCol="0" anchor="t"/>
          <a:lstStyle/>
          <a:p>
            <a:pPr algn="ctr" indent="0" marL="0">
              <a:buNone/>
            </a:pPr>
            <a:r>
              <a:rPr lang="en-US" sz="850" dirty="0">
                <a:solidFill>
                  <a:srgbClr val="E8F0FF"/>
                </a:solidFill>
              </a:rPr>
              <a:t>Architecture · BDD · Maquettes · Parcours utilisateur</a:t>
            </a:r>
            <a:endParaRPr lang="en-US" sz="850" dirty="0"/>
          </a:p>
        </p:txBody>
      </p:sp>
      <p:sp>
        <p:nvSpPr>
          <p:cNvPr id="15" name="Shape 13"/>
          <p:cNvSpPr/>
          <p:nvPr/>
        </p:nvSpPr>
        <p:spPr>
          <a:xfrm>
            <a:off x="3703320" y="1828800"/>
            <a:ext cx="1463040" cy="2560320"/>
          </a:xfrm>
          <a:prstGeom prst="roundRect">
            <a:avLst>
              <a:gd name="adj" fmla="val 5000"/>
            </a:avLst>
          </a:prstGeom>
          <a:solidFill>
            <a:srgbClr val="0D2240"/>
          </a:solidFill>
          <a:ln w="12700">
            <a:solidFill>
              <a:srgbClr val="0D2240"/>
            </a:solidFill>
            <a:prstDash val="solid"/>
          </a:ln>
          <a:effectLst>
            <a:outerShdw sx="100000" sy="100000" kx="0" ky="0" algn="bl" rotWithShape="0" blurRad="101600" dist="38100" dir="2700000">
              <a:srgbClr val="000000">
                <a:alpha val="12000"/>
              </a:srgbClr>
            </a:outerShdw>
          </a:effectLst>
        </p:spPr>
      </p:sp>
      <p:sp>
        <p:nvSpPr>
          <p:cNvPr id="16" name="Shape 14"/>
          <p:cNvSpPr/>
          <p:nvPr/>
        </p:nvSpPr>
        <p:spPr>
          <a:xfrm>
            <a:off x="4114800" y="2011680"/>
            <a:ext cx="640080" cy="640080"/>
          </a:xfrm>
          <a:prstGeom prst="ellipse">
            <a:avLst/>
          </a:prstGeom>
          <a:solidFill>
            <a:srgbClr val="FFFFFF">
              <a:alpha val="80000"/>
            </a:srgbClr>
          </a:solidFill>
          <a:ln w="25400">
            <a:solidFill>
              <a:srgbClr val="FFFFFF"/>
            </a:solidFill>
            <a:prstDash val="solid"/>
          </a:ln>
        </p:spPr>
      </p:sp>
      <p:sp>
        <p:nvSpPr>
          <p:cNvPr id="17" name="Text 15"/>
          <p:cNvSpPr/>
          <p:nvPr/>
        </p:nvSpPr>
        <p:spPr>
          <a:xfrm>
            <a:off x="4114800" y="201168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8" name="Text 16"/>
          <p:cNvSpPr/>
          <p:nvPr/>
        </p:nvSpPr>
        <p:spPr>
          <a:xfrm>
            <a:off x="3794760" y="2788920"/>
            <a:ext cx="1280160" cy="365760"/>
          </a:xfrm>
          <a:prstGeom prst="rect">
            <a:avLst/>
          </a:prstGeom>
          <a:noFill/>
          <a:ln/>
        </p:spPr>
        <p:txBody>
          <a:bodyPr wrap="square" lIns="0" tIns="0" rIns="0" bIns="0" rtlCol="0" anchor="t"/>
          <a:lstStyle/>
          <a:p>
            <a:pPr algn="ctr" indent="0" marL="0">
              <a:buNone/>
            </a:pPr>
            <a:r>
              <a:rPr lang="en-US" sz="1100" b="1" dirty="0">
                <a:solidFill>
                  <a:srgbClr val="FFFFFF"/>
                </a:solidFill>
              </a:rPr>
              <a:t>MVP</a:t>
            </a:r>
            <a:endParaRPr lang="en-US" sz="1100" dirty="0"/>
          </a:p>
        </p:txBody>
      </p:sp>
      <p:sp>
        <p:nvSpPr>
          <p:cNvPr id="19" name="Text 17"/>
          <p:cNvSpPr/>
          <p:nvPr/>
        </p:nvSpPr>
        <p:spPr>
          <a:xfrm>
            <a:off x="3813048" y="3200400"/>
            <a:ext cx="1243584" cy="1097280"/>
          </a:xfrm>
          <a:prstGeom prst="rect">
            <a:avLst/>
          </a:prstGeom>
          <a:noFill/>
          <a:ln/>
        </p:spPr>
        <p:txBody>
          <a:bodyPr wrap="square" lIns="0" tIns="0" rIns="0" bIns="0" rtlCol="0" anchor="t"/>
          <a:lstStyle/>
          <a:p>
            <a:pPr algn="ctr" indent="0" marL="0">
              <a:buNone/>
            </a:pPr>
            <a:r>
              <a:rPr lang="en-US" sz="850" dirty="0">
                <a:solidFill>
                  <a:srgbClr val="E8F0FF"/>
                </a:solidFill>
              </a:rPr>
              <a:t>Agents · Matricule · Affectations · Grades · Statuts</a:t>
            </a:r>
            <a:endParaRPr lang="en-US" sz="850" dirty="0"/>
          </a:p>
        </p:txBody>
      </p:sp>
      <p:sp>
        <p:nvSpPr>
          <p:cNvPr id="20" name="Shape 18"/>
          <p:cNvSpPr/>
          <p:nvPr/>
        </p:nvSpPr>
        <p:spPr>
          <a:xfrm>
            <a:off x="5349240" y="1828800"/>
            <a:ext cx="1463040" cy="2560320"/>
          </a:xfrm>
          <a:prstGeom prst="roundRect">
            <a:avLst>
              <a:gd name="adj" fmla="val 5000"/>
            </a:avLst>
          </a:prstGeom>
          <a:solidFill>
            <a:srgbClr val="2E8B57"/>
          </a:solidFill>
          <a:ln w="12700">
            <a:solidFill>
              <a:srgbClr val="2E8B57"/>
            </a:solidFill>
            <a:prstDash val="solid"/>
          </a:ln>
          <a:effectLst>
            <a:outerShdw sx="100000" sy="100000" kx="0" ky="0" algn="bl" rotWithShape="0" blurRad="101600" dist="38100" dir="2700000">
              <a:srgbClr val="000000">
                <a:alpha val="12000"/>
              </a:srgbClr>
            </a:outerShdw>
          </a:effectLst>
        </p:spPr>
      </p:sp>
      <p:sp>
        <p:nvSpPr>
          <p:cNvPr id="21" name="Shape 19"/>
          <p:cNvSpPr/>
          <p:nvPr/>
        </p:nvSpPr>
        <p:spPr>
          <a:xfrm>
            <a:off x="5760720" y="2011680"/>
            <a:ext cx="640080" cy="640080"/>
          </a:xfrm>
          <a:prstGeom prst="ellipse">
            <a:avLst/>
          </a:prstGeom>
          <a:solidFill>
            <a:srgbClr val="FFFFFF">
              <a:alpha val="80000"/>
            </a:srgbClr>
          </a:solidFill>
          <a:ln w="25400">
            <a:solidFill>
              <a:srgbClr val="FFFFFF"/>
            </a:solidFill>
            <a:prstDash val="solid"/>
          </a:ln>
        </p:spPr>
      </p:sp>
      <p:sp>
        <p:nvSpPr>
          <p:cNvPr id="22" name="Text 20"/>
          <p:cNvSpPr/>
          <p:nvPr/>
        </p:nvSpPr>
        <p:spPr>
          <a:xfrm>
            <a:off x="5760720" y="201168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3" name="Text 21"/>
          <p:cNvSpPr/>
          <p:nvPr/>
        </p:nvSpPr>
        <p:spPr>
          <a:xfrm>
            <a:off x="5440680" y="2788920"/>
            <a:ext cx="1280160" cy="365760"/>
          </a:xfrm>
          <a:prstGeom prst="rect">
            <a:avLst/>
          </a:prstGeom>
          <a:noFill/>
          <a:ln/>
        </p:spPr>
        <p:txBody>
          <a:bodyPr wrap="square" lIns="0" tIns="0" rIns="0" bIns="0" rtlCol="0" anchor="t"/>
          <a:lstStyle/>
          <a:p>
            <a:pPr algn="ctr" indent="0" marL="0">
              <a:buNone/>
            </a:pPr>
            <a:r>
              <a:rPr lang="en-US" sz="1100" b="1" dirty="0">
                <a:solidFill>
                  <a:srgbClr val="FFFFFF"/>
                </a:solidFill>
              </a:rPr>
              <a:t>Enrichissement</a:t>
            </a:r>
            <a:endParaRPr lang="en-US" sz="1100" dirty="0"/>
          </a:p>
        </p:txBody>
      </p:sp>
      <p:sp>
        <p:nvSpPr>
          <p:cNvPr id="24" name="Text 22"/>
          <p:cNvSpPr/>
          <p:nvPr/>
        </p:nvSpPr>
        <p:spPr>
          <a:xfrm>
            <a:off x="5458968" y="3200400"/>
            <a:ext cx="1243584" cy="1097280"/>
          </a:xfrm>
          <a:prstGeom prst="rect">
            <a:avLst/>
          </a:prstGeom>
          <a:noFill/>
          <a:ln/>
        </p:spPr>
        <p:txBody>
          <a:bodyPr wrap="square" lIns="0" tIns="0" rIns="0" bIns="0" rtlCol="0" anchor="t"/>
          <a:lstStyle/>
          <a:p>
            <a:pPr algn="ctr" indent="0" marL="0">
              <a:buNone/>
            </a:pPr>
            <a:r>
              <a:rPr lang="en-US" sz="850" dirty="0">
                <a:solidFill>
                  <a:srgbClr val="E8F0FF"/>
                </a:solidFill>
              </a:rPr>
              <a:t>Santé · Documents · Dashboards · Audit</a:t>
            </a:r>
            <a:endParaRPr lang="en-US" sz="850" dirty="0"/>
          </a:p>
        </p:txBody>
      </p:sp>
      <p:sp>
        <p:nvSpPr>
          <p:cNvPr id="25" name="Shape 23"/>
          <p:cNvSpPr/>
          <p:nvPr/>
        </p:nvSpPr>
        <p:spPr>
          <a:xfrm>
            <a:off x="6995160" y="1828800"/>
            <a:ext cx="1463040" cy="2560320"/>
          </a:xfrm>
          <a:prstGeom prst="roundRect">
            <a:avLst>
              <a:gd name="adj" fmla="val 5000"/>
            </a:avLst>
          </a:prstGeom>
          <a:solidFill>
            <a:srgbClr val="F0A500"/>
          </a:solidFill>
          <a:ln w="12700">
            <a:solidFill>
              <a:srgbClr val="F0A500"/>
            </a:solidFill>
            <a:prstDash val="solid"/>
          </a:ln>
          <a:effectLst>
            <a:outerShdw sx="100000" sy="100000" kx="0" ky="0" algn="bl" rotWithShape="0" blurRad="101600" dist="38100" dir="2700000">
              <a:srgbClr val="000000">
                <a:alpha val="12000"/>
              </a:srgbClr>
            </a:outerShdw>
          </a:effectLst>
        </p:spPr>
      </p:sp>
      <p:sp>
        <p:nvSpPr>
          <p:cNvPr id="26" name="Shape 24"/>
          <p:cNvSpPr/>
          <p:nvPr/>
        </p:nvSpPr>
        <p:spPr>
          <a:xfrm>
            <a:off x="7406640" y="2011680"/>
            <a:ext cx="640080" cy="640080"/>
          </a:xfrm>
          <a:prstGeom prst="ellipse">
            <a:avLst/>
          </a:prstGeom>
          <a:solidFill>
            <a:srgbClr val="FFFFFF">
              <a:alpha val="80000"/>
            </a:srgbClr>
          </a:solidFill>
          <a:ln w="25400">
            <a:solidFill>
              <a:srgbClr val="FFFFFF"/>
            </a:solidFill>
            <a:prstDash val="solid"/>
          </a:ln>
        </p:spPr>
      </p:sp>
      <p:sp>
        <p:nvSpPr>
          <p:cNvPr id="27" name="Text 25"/>
          <p:cNvSpPr/>
          <p:nvPr/>
        </p:nvSpPr>
        <p:spPr>
          <a:xfrm>
            <a:off x="7406640" y="201168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8" name="Text 26"/>
          <p:cNvSpPr/>
          <p:nvPr/>
        </p:nvSpPr>
        <p:spPr>
          <a:xfrm>
            <a:off x="7086600" y="2788920"/>
            <a:ext cx="1280160" cy="365760"/>
          </a:xfrm>
          <a:prstGeom prst="rect">
            <a:avLst/>
          </a:prstGeom>
          <a:noFill/>
          <a:ln/>
        </p:spPr>
        <p:txBody>
          <a:bodyPr wrap="square" lIns="0" tIns="0" rIns="0" bIns="0" rtlCol="0" anchor="t"/>
          <a:lstStyle/>
          <a:p>
            <a:pPr algn="ctr" indent="0" marL="0">
              <a:buNone/>
            </a:pPr>
            <a:r>
              <a:rPr lang="en-US" sz="1100" b="1" dirty="0">
                <a:solidFill>
                  <a:srgbClr val="FFFFFF"/>
                </a:solidFill>
              </a:rPr>
              <a:t>Industrialisation</a:t>
            </a:r>
            <a:endParaRPr lang="en-US" sz="1100" dirty="0"/>
          </a:p>
        </p:txBody>
      </p:sp>
      <p:sp>
        <p:nvSpPr>
          <p:cNvPr id="29" name="Text 27"/>
          <p:cNvSpPr/>
          <p:nvPr/>
        </p:nvSpPr>
        <p:spPr>
          <a:xfrm>
            <a:off x="7104888" y="3200400"/>
            <a:ext cx="1243584" cy="1097280"/>
          </a:xfrm>
          <a:prstGeom prst="rect">
            <a:avLst/>
          </a:prstGeom>
          <a:noFill/>
          <a:ln/>
        </p:spPr>
        <p:txBody>
          <a:bodyPr wrap="square" lIns="0" tIns="0" rIns="0" bIns="0" rtlCol="0" anchor="t"/>
          <a:lstStyle/>
          <a:p>
            <a:pPr algn="ctr" indent="0" marL="0">
              <a:buNone/>
            </a:pPr>
            <a:r>
              <a:rPr lang="en-US" sz="850" dirty="0">
                <a:solidFill>
                  <a:srgbClr val="E8F0FF"/>
                </a:solidFill>
              </a:rPr>
              <a:t>Sécurité · Tests · Pilote · Déploiement national</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411480" y="164592"/>
            <a:ext cx="2011680" cy="292608"/>
          </a:xfrm>
          <a:prstGeom prst="roundRect">
            <a:avLst>
              <a:gd name="adj" fmla="val 18750"/>
            </a:avLst>
          </a:prstGeom>
          <a:solidFill>
            <a:srgbClr val="2E7FC1"/>
          </a:solidFill>
          <a:ln w="12700">
            <a:solidFill>
              <a:srgbClr val="2E7FC1"/>
            </a:solidFill>
            <a:prstDash val="solid"/>
          </a:ln>
        </p:spPr>
      </p:sp>
      <p:sp>
        <p:nvSpPr>
          <p:cNvPr id="3" name="Text 1"/>
          <p:cNvSpPr/>
          <p:nvPr/>
        </p:nvSpPr>
        <p:spPr>
          <a:xfrm>
            <a:off x="411480" y="164592"/>
            <a:ext cx="2011680" cy="292608"/>
          </a:xfrm>
          <a:prstGeom prst="rect">
            <a:avLst/>
          </a:prstGeom>
          <a:noFill/>
          <a:ln/>
        </p:spPr>
        <p:txBody>
          <a:bodyPr wrap="square" lIns="0" tIns="0" rIns="0" bIns="0" rtlCol="0" anchor="ctr"/>
          <a:lstStyle/>
          <a:p>
            <a:pPr algn="ctr" indent="0" marL="0">
              <a:buNone/>
            </a:pPr>
            <a:r>
              <a:rPr lang="en-US" sz="800" b="1" dirty="0">
                <a:solidFill>
                  <a:srgbClr val="FFFFFF"/>
                </a:solidFill>
              </a:rPr>
              <a:t>RISQUES &amp; SÉCURITÉ</a:t>
            </a:r>
            <a:endParaRPr lang="en-US" sz="800" dirty="0"/>
          </a:p>
        </p:txBody>
      </p:sp>
      <p:sp>
        <p:nvSpPr>
          <p:cNvPr id="4" name="Text 2"/>
          <p:cNvSpPr/>
          <p:nvPr/>
        </p:nvSpPr>
        <p:spPr>
          <a:xfrm>
            <a:off x="411480" y="548640"/>
            <a:ext cx="8321040" cy="594360"/>
          </a:xfrm>
          <a:prstGeom prst="rect">
            <a:avLst/>
          </a:prstGeom>
          <a:noFill/>
          <a:ln/>
        </p:spPr>
        <p:txBody>
          <a:bodyPr wrap="square" lIns="0" tIns="0" rIns="0" bIns="0" rtlCol="0" anchor="ctr"/>
          <a:lstStyle/>
          <a:p>
            <a:pPr algn="l" indent="0" marL="0">
              <a:buNone/>
            </a:pPr>
            <a:r>
              <a:rPr lang="en-US" sz="2800" b="1" dirty="0">
                <a:solidFill>
                  <a:srgbClr val="0D2240"/>
                </a:solidFill>
                <a:latin typeface="Cambria" pitchFamily="34" charset="0"/>
                <a:ea typeface="Cambria" pitchFamily="34" charset="-122"/>
                <a:cs typeface="Cambria" pitchFamily="34" charset="-120"/>
              </a:rPr>
              <a:t>Sécurité &amp; Gestion des risques</a:t>
            </a:r>
            <a:endParaRPr lang="en-US" sz="2800" dirty="0"/>
          </a:p>
        </p:txBody>
      </p:sp>
      <p:sp>
        <p:nvSpPr>
          <p:cNvPr id="5" name="Shape 3"/>
          <p:cNvSpPr/>
          <p:nvPr/>
        </p:nvSpPr>
        <p:spPr>
          <a:xfrm>
            <a:off x="411480" y="1280160"/>
            <a:ext cx="4023360" cy="3566160"/>
          </a:xfrm>
          <a:prstGeom prst="roundRect">
            <a:avLst>
              <a:gd name="adj" fmla="val 2051"/>
            </a:avLst>
          </a:prstGeom>
          <a:solidFill>
            <a:srgbClr val="FFFFFF"/>
          </a:solidFill>
          <a:ln w="6350">
            <a:solidFill>
              <a:srgbClr val="D6E8F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417320"/>
            <a:ext cx="3657600" cy="365760"/>
          </a:xfrm>
          <a:prstGeom prst="rect">
            <a:avLst/>
          </a:prstGeom>
          <a:noFill/>
          <a:ln/>
        </p:spPr>
        <p:txBody>
          <a:bodyPr wrap="square" lIns="0" tIns="0" rIns="0" bIns="0" rtlCol="0" anchor="ctr"/>
          <a:lstStyle/>
          <a:p>
            <a:pPr algn="l" indent="0" marL="0">
              <a:buNone/>
            </a:pPr>
            <a:r>
              <a:rPr lang="en-US" sz="1200" b="1" dirty="0">
                <a:solidFill>
                  <a:srgbClr val="0D2240"/>
                </a:solidFill>
              </a:rPr>
              <a:t>🔒  Exigences de sécurité</a:t>
            </a:r>
            <a:endParaRPr lang="en-US" sz="1200" dirty="0"/>
          </a:p>
        </p:txBody>
      </p:sp>
      <p:sp>
        <p:nvSpPr>
          <p:cNvPr id="7" name="Text 5"/>
          <p:cNvSpPr/>
          <p:nvPr/>
        </p:nvSpPr>
        <p:spPr>
          <a:xfrm>
            <a:off x="594360" y="1874520"/>
            <a:ext cx="3657600" cy="411480"/>
          </a:xfrm>
          <a:prstGeom prst="rect">
            <a:avLst/>
          </a:prstGeom>
          <a:noFill/>
          <a:ln/>
        </p:spPr>
        <p:txBody>
          <a:bodyPr wrap="square" lIns="0" tIns="0" rIns="0" bIns="0" rtlCol="0" anchor="t"/>
          <a:lstStyle/>
          <a:p>
            <a:pPr algn="l" indent="0" marL="0">
              <a:buNone/>
            </a:pPr>
            <a:r>
              <a:rPr lang="en-US" sz="1000" b="1" dirty="0">
                <a:solidFill>
                  <a:srgbClr val="1D7A55"/>
                </a:solidFill>
              </a:rPr>
              <a:t>✓  </a:t>
            </a:r>
            <a:pPr algn="l" indent="0" marL="0">
              <a:buNone/>
            </a:pPr>
            <a:r>
              <a:rPr lang="en-US" sz="1000" dirty="0">
                <a:solidFill>
                  <a:srgbClr val="64748B"/>
                </a:solidFill>
              </a:rPr>
              <a:t>Cloisonnement strict des accès</a:t>
            </a:r>
            <a:endParaRPr lang="en-US" sz="1000" dirty="0"/>
          </a:p>
        </p:txBody>
      </p:sp>
      <p:sp>
        <p:nvSpPr>
          <p:cNvPr id="8" name="Text 6"/>
          <p:cNvSpPr/>
          <p:nvPr/>
        </p:nvSpPr>
        <p:spPr>
          <a:xfrm>
            <a:off x="594360" y="2350008"/>
            <a:ext cx="3657600" cy="411480"/>
          </a:xfrm>
          <a:prstGeom prst="rect">
            <a:avLst/>
          </a:prstGeom>
          <a:noFill/>
          <a:ln/>
        </p:spPr>
        <p:txBody>
          <a:bodyPr wrap="square" lIns="0" tIns="0" rIns="0" bIns="0" rtlCol="0" anchor="t"/>
          <a:lstStyle/>
          <a:p>
            <a:pPr algn="l" indent="0" marL="0">
              <a:buNone/>
            </a:pPr>
            <a:r>
              <a:rPr lang="en-US" sz="1000" b="1" dirty="0">
                <a:solidFill>
                  <a:srgbClr val="1D7A55"/>
                </a:solidFill>
              </a:rPr>
              <a:t>✓  </a:t>
            </a:r>
            <a:pPr algn="l" indent="0" marL="0">
              <a:buNone/>
            </a:pPr>
            <a:r>
              <a:rPr lang="en-US" sz="1000" dirty="0">
                <a:solidFill>
                  <a:srgbClr val="64748B"/>
                </a:solidFill>
              </a:rPr>
              <a:t>Chiffrement des échanges</a:t>
            </a:r>
            <a:endParaRPr lang="en-US" sz="1000" dirty="0"/>
          </a:p>
        </p:txBody>
      </p:sp>
      <p:sp>
        <p:nvSpPr>
          <p:cNvPr id="9" name="Text 7"/>
          <p:cNvSpPr/>
          <p:nvPr/>
        </p:nvSpPr>
        <p:spPr>
          <a:xfrm>
            <a:off x="594360" y="2825496"/>
            <a:ext cx="3657600" cy="411480"/>
          </a:xfrm>
          <a:prstGeom prst="rect">
            <a:avLst/>
          </a:prstGeom>
          <a:noFill/>
          <a:ln/>
        </p:spPr>
        <p:txBody>
          <a:bodyPr wrap="square" lIns="0" tIns="0" rIns="0" bIns="0" rtlCol="0" anchor="t"/>
          <a:lstStyle/>
          <a:p>
            <a:pPr algn="l" indent="0" marL="0">
              <a:buNone/>
            </a:pPr>
            <a:r>
              <a:rPr lang="en-US" sz="1000" b="1" dirty="0">
                <a:solidFill>
                  <a:srgbClr val="1D7A55"/>
                </a:solidFill>
              </a:rPr>
              <a:t>✓  </a:t>
            </a:r>
            <a:pPr algn="l" indent="0" marL="0">
              <a:buNone/>
            </a:pPr>
            <a:r>
              <a:rPr lang="en-US" sz="1000" dirty="0">
                <a:solidFill>
                  <a:srgbClr val="64748B"/>
                </a:solidFill>
              </a:rPr>
              <a:t>Journal d'accès complet (audit)</a:t>
            </a:r>
            <a:endParaRPr lang="en-US" sz="1000" dirty="0"/>
          </a:p>
        </p:txBody>
      </p:sp>
      <p:sp>
        <p:nvSpPr>
          <p:cNvPr id="10" name="Text 8"/>
          <p:cNvSpPr/>
          <p:nvPr/>
        </p:nvSpPr>
        <p:spPr>
          <a:xfrm>
            <a:off x="594360" y="3300984"/>
            <a:ext cx="3657600" cy="411480"/>
          </a:xfrm>
          <a:prstGeom prst="rect">
            <a:avLst/>
          </a:prstGeom>
          <a:noFill/>
          <a:ln/>
        </p:spPr>
        <p:txBody>
          <a:bodyPr wrap="square" lIns="0" tIns="0" rIns="0" bIns="0" rtlCol="0" anchor="t"/>
          <a:lstStyle/>
          <a:p>
            <a:pPr algn="l" indent="0" marL="0">
              <a:buNone/>
            </a:pPr>
            <a:r>
              <a:rPr lang="en-US" sz="1000" b="1" dirty="0">
                <a:solidFill>
                  <a:srgbClr val="1D7A55"/>
                </a:solidFill>
              </a:rPr>
              <a:t>✓  </a:t>
            </a:r>
            <a:pPr algn="l" indent="0" marL="0">
              <a:buNone/>
            </a:pPr>
            <a:r>
              <a:rPr lang="en-US" sz="1000" dirty="0">
                <a:solidFill>
                  <a:srgbClr val="64748B"/>
                </a:solidFill>
              </a:rPr>
              <a:t>Protection contre modifications non autorisées</a:t>
            </a:r>
            <a:endParaRPr lang="en-US" sz="1000" dirty="0"/>
          </a:p>
        </p:txBody>
      </p:sp>
      <p:sp>
        <p:nvSpPr>
          <p:cNvPr id="11" name="Text 9"/>
          <p:cNvSpPr/>
          <p:nvPr/>
        </p:nvSpPr>
        <p:spPr>
          <a:xfrm>
            <a:off x="594360" y="3776472"/>
            <a:ext cx="3657600" cy="411480"/>
          </a:xfrm>
          <a:prstGeom prst="rect">
            <a:avLst/>
          </a:prstGeom>
          <a:noFill/>
          <a:ln/>
        </p:spPr>
        <p:txBody>
          <a:bodyPr wrap="square" lIns="0" tIns="0" rIns="0" bIns="0" rtlCol="0" anchor="t"/>
          <a:lstStyle/>
          <a:p>
            <a:pPr algn="l" indent="0" marL="0">
              <a:buNone/>
            </a:pPr>
            <a:r>
              <a:rPr lang="en-US" sz="1000" b="1" dirty="0">
                <a:solidFill>
                  <a:srgbClr val="1D7A55"/>
                </a:solidFill>
              </a:rPr>
              <a:t>✓  </a:t>
            </a:r>
            <a:pPr algn="l" indent="0" marL="0">
              <a:buNone/>
            </a:pPr>
            <a:r>
              <a:rPr lang="en-US" sz="1000" dirty="0">
                <a:solidFill>
                  <a:srgbClr val="64748B"/>
                </a:solidFill>
              </a:rPr>
              <a:t>Sauvegarde hors site</a:t>
            </a:r>
            <a:endParaRPr lang="en-US" sz="1000" dirty="0"/>
          </a:p>
        </p:txBody>
      </p:sp>
      <p:sp>
        <p:nvSpPr>
          <p:cNvPr id="12" name="Text 10"/>
          <p:cNvSpPr/>
          <p:nvPr/>
        </p:nvSpPr>
        <p:spPr>
          <a:xfrm>
            <a:off x="594360" y="4251960"/>
            <a:ext cx="3657600" cy="411480"/>
          </a:xfrm>
          <a:prstGeom prst="rect">
            <a:avLst/>
          </a:prstGeom>
          <a:noFill/>
          <a:ln/>
        </p:spPr>
        <p:txBody>
          <a:bodyPr wrap="square" lIns="0" tIns="0" rIns="0" bIns="0" rtlCol="0" anchor="t"/>
          <a:lstStyle/>
          <a:p>
            <a:pPr algn="l" indent="0" marL="0">
              <a:buNone/>
            </a:pPr>
            <a:r>
              <a:rPr lang="en-US" sz="1000" b="1" dirty="0">
                <a:solidFill>
                  <a:srgbClr val="1D7A55"/>
                </a:solidFill>
              </a:rPr>
              <a:t>✓  </a:t>
            </a:r>
            <a:pPr algn="l" indent="0" marL="0">
              <a:buNone/>
            </a:pPr>
            <a:r>
              <a:rPr lang="en-US" sz="1000" dirty="0">
                <a:solidFill>
                  <a:srgbClr val="64748B"/>
                </a:solidFill>
              </a:rPr>
              <a:t>Contrôle des exports &amp; impressions</a:t>
            </a:r>
            <a:endParaRPr lang="en-US" sz="1000" dirty="0"/>
          </a:p>
        </p:txBody>
      </p:sp>
      <p:sp>
        <p:nvSpPr>
          <p:cNvPr id="13" name="Shape 11"/>
          <p:cNvSpPr/>
          <p:nvPr/>
        </p:nvSpPr>
        <p:spPr>
          <a:xfrm>
            <a:off x="4663440" y="1280160"/>
            <a:ext cx="4023360" cy="3566160"/>
          </a:xfrm>
          <a:prstGeom prst="roundRect">
            <a:avLst>
              <a:gd name="adj" fmla="val 2051"/>
            </a:avLst>
          </a:prstGeom>
          <a:solidFill>
            <a:srgbClr val="FFFFFF"/>
          </a:solidFill>
          <a:ln w="6350">
            <a:solidFill>
              <a:srgbClr val="D6E8F8"/>
            </a:solidFill>
            <a:prstDash val="solid"/>
          </a:ln>
          <a:effectLst>
            <a:outerShdw sx="100000" sy="100000" kx="0" ky="0" algn="bl" rotWithShape="0" blurRad="101600" dist="38100" dir="2700000">
              <a:srgbClr val="000000">
                <a:alpha val="12000"/>
              </a:srgbClr>
            </a:outerShdw>
          </a:effectLst>
        </p:spPr>
      </p:sp>
      <p:sp>
        <p:nvSpPr>
          <p:cNvPr id="14" name="Text 12"/>
          <p:cNvSpPr/>
          <p:nvPr/>
        </p:nvSpPr>
        <p:spPr>
          <a:xfrm>
            <a:off x="4846320" y="1417320"/>
            <a:ext cx="3657600" cy="365760"/>
          </a:xfrm>
          <a:prstGeom prst="rect">
            <a:avLst/>
          </a:prstGeom>
          <a:noFill/>
          <a:ln/>
        </p:spPr>
        <p:txBody>
          <a:bodyPr wrap="square" lIns="0" tIns="0" rIns="0" bIns="0" rtlCol="0" anchor="ctr"/>
          <a:lstStyle/>
          <a:p>
            <a:pPr algn="l" indent="0" marL="0">
              <a:buNone/>
            </a:pPr>
            <a:r>
              <a:rPr lang="en-US" sz="1200" b="1" dirty="0">
                <a:solidFill>
                  <a:srgbClr val="0D2240"/>
                </a:solidFill>
              </a:rPr>
              <a:t>⚠  Risques &amp; Atténuations</a:t>
            </a:r>
            <a:endParaRPr lang="en-US" sz="1200" dirty="0"/>
          </a:p>
        </p:txBody>
      </p:sp>
      <p:sp>
        <p:nvSpPr>
          <p:cNvPr id="15" name="Text 13"/>
          <p:cNvSpPr/>
          <p:nvPr/>
        </p:nvSpPr>
        <p:spPr>
          <a:xfrm>
            <a:off x="4846320" y="1874520"/>
            <a:ext cx="3657600" cy="256032"/>
          </a:xfrm>
          <a:prstGeom prst="rect">
            <a:avLst/>
          </a:prstGeom>
          <a:noFill/>
          <a:ln/>
        </p:spPr>
        <p:txBody>
          <a:bodyPr wrap="square" lIns="0" tIns="0" rIns="0" bIns="0" rtlCol="0" anchor="t"/>
          <a:lstStyle/>
          <a:p>
            <a:pPr algn="l" indent="0" marL="0">
              <a:buNone/>
            </a:pPr>
            <a:r>
              <a:rPr lang="en-US" sz="1000" b="1" dirty="0">
                <a:solidFill>
                  <a:srgbClr val="A0302A"/>
                </a:solidFill>
              </a:rPr>
              <a:t>Résistance au changement</a:t>
            </a:r>
            <a:endParaRPr lang="en-US" sz="1000" dirty="0"/>
          </a:p>
        </p:txBody>
      </p:sp>
      <p:sp>
        <p:nvSpPr>
          <p:cNvPr id="16" name="Text 14"/>
          <p:cNvSpPr/>
          <p:nvPr/>
        </p:nvSpPr>
        <p:spPr>
          <a:xfrm>
            <a:off x="4846320" y="2130552"/>
            <a:ext cx="3657600" cy="320040"/>
          </a:xfrm>
          <a:prstGeom prst="rect">
            <a:avLst/>
          </a:prstGeom>
          <a:noFill/>
          <a:ln/>
        </p:spPr>
        <p:txBody>
          <a:bodyPr wrap="square" lIns="0" tIns="0" rIns="0" bIns="0" rtlCol="0" anchor="t"/>
          <a:lstStyle/>
          <a:p>
            <a:pPr algn="l" indent="0" marL="0">
              <a:buNone/>
            </a:pPr>
            <a:r>
              <a:rPr lang="en-US" sz="950" dirty="0">
                <a:solidFill>
                  <a:srgbClr val="1D7A55"/>
                </a:solidFill>
              </a:rPr>
              <a:t>→  Conduite du changement</a:t>
            </a:r>
            <a:endParaRPr lang="en-US" sz="950" dirty="0"/>
          </a:p>
        </p:txBody>
      </p:sp>
      <p:sp>
        <p:nvSpPr>
          <p:cNvPr id="17" name="Text 15"/>
          <p:cNvSpPr/>
          <p:nvPr/>
        </p:nvSpPr>
        <p:spPr>
          <a:xfrm>
            <a:off x="4846320" y="2679192"/>
            <a:ext cx="3657600" cy="256032"/>
          </a:xfrm>
          <a:prstGeom prst="rect">
            <a:avLst/>
          </a:prstGeom>
          <a:noFill/>
          <a:ln/>
        </p:spPr>
        <p:txBody>
          <a:bodyPr wrap="square" lIns="0" tIns="0" rIns="0" bIns="0" rtlCol="0" anchor="t"/>
          <a:lstStyle/>
          <a:p>
            <a:pPr algn="l" indent="0" marL="0">
              <a:buNone/>
            </a:pPr>
            <a:r>
              <a:rPr lang="en-US" sz="1000" b="1" dirty="0">
                <a:solidFill>
                  <a:srgbClr val="A0302A"/>
                </a:solidFill>
              </a:rPr>
              <a:t>Données historiques fragmentées</a:t>
            </a:r>
            <a:endParaRPr lang="en-US" sz="1000" dirty="0"/>
          </a:p>
        </p:txBody>
      </p:sp>
      <p:sp>
        <p:nvSpPr>
          <p:cNvPr id="18" name="Text 16"/>
          <p:cNvSpPr/>
          <p:nvPr/>
        </p:nvSpPr>
        <p:spPr>
          <a:xfrm>
            <a:off x="4846320" y="2935224"/>
            <a:ext cx="3657600" cy="320040"/>
          </a:xfrm>
          <a:prstGeom prst="rect">
            <a:avLst/>
          </a:prstGeom>
          <a:noFill/>
          <a:ln/>
        </p:spPr>
        <p:txBody>
          <a:bodyPr wrap="square" lIns="0" tIns="0" rIns="0" bIns="0" rtlCol="0" anchor="t"/>
          <a:lstStyle/>
          <a:p>
            <a:pPr algn="l" indent="0" marL="0">
              <a:buNone/>
            </a:pPr>
            <a:r>
              <a:rPr lang="en-US" sz="950" dirty="0">
                <a:solidFill>
                  <a:srgbClr val="1D7A55"/>
                </a:solidFill>
              </a:rPr>
              <a:t>→  Nettoyage &amp; normalisation</a:t>
            </a:r>
            <a:endParaRPr lang="en-US" sz="950" dirty="0"/>
          </a:p>
        </p:txBody>
      </p:sp>
      <p:sp>
        <p:nvSpPr>
          <p:cNvPr id="19" name="Text 17"/>
          <p:cNvSpPr/>
          <p:nvPr/>
        </p:nvSpPr>
        <p:spPr>
          <a:xfrm>
            <a:off x="4846320" y="3483864"/>
            <a:ext cx="3657600" cy="256032"/>
          </a:xfrm>
          <a:prstGeom prst="rect">
            <a:avLst/>
          </a:prstGeom>
          <a:noFill/>
          <a:ln/>
        </p:spPr>
        <p:txBody>
          <a:bodyPr wrap="square" lIns="0" tIns="0" rIns="0" bIns="0" rtlCol="0" anchor="t"/>
          <a:lstStyle/>
          <a:p>
            <a:pPr algn="l" indent="0" marL="0">
              <a:buNone/>
            </a:pPr>
            <a:r>
              <a:rPr lang="en-US" sz="1000" b="1" dirty="0">
                <a:solidFill>
                  <a:srgbClr val="A0302A"/>
                </a:solidFill>
              </a:rPr>
              <a:t>Accès non autorisé</a:t>
            </a:r>
            <a:endParaRPr lang="en-US" sz="1000" dirty="0"/>
          </a:p>
        </p:txBody>
      </p:sp>
      <p:sp>
        <p:nvSpPr>
          <p:cNvPr id="20" name="Text 18"/>
          <p:cNvSpPr/>
          <p:nvPr/>
        </p:nvSpPr>
        <p:spPr>
          <a:xfrm>
            <a:off x="4846320" y="3739896"/>
            <a:ext cx="3657600" cy="320040"/>
          </a:xfrm>
          <a:prstGeom prst="rect">
            <a:avLst/>
          </a:prstGeom>
          <a:noFill/>
          <a:ln/>
        </p:spPr>
        <p:txBody>
          <a:bodyPr wrap="square" lIns="0" tIns="0" rIns="0" bIns="0" rtlCol="0" anchor="t"/>
          <a:lstStyle/>
          <a:p>
            <a:pPr algn="l" indent="0" marL="0">
              <a:buNone/>
            </a:pPr>
            <a:r>
              <a:rPr lang="en-US" sz="950" dirty="0">
                <a:solidFill>
                  <a:srgbClr val="1D7A55"/>
                </a:solidFill>
              </a:rPr>
              <a:t>→  Contrôle d'accès strict</a:t>
            </a:r>
            <a:endParaRPr lang="en-US" sz="950" dirty="0"/>
          </a:p>
        </p:txBody>
      </p:sp>
      <p:sp>
        <p:nvSpPr>
          <p:cNvPr id="21" name="Text 19"/>
          <p:cNvSpPr/>
          <p:nvPr/>
        </p:nvSpPr>
        <p:spPr>
          <a:xfrm>
            <a:off x="4846320" y="4288536"/>
            <a:ext cx="3657600" cy="256032"/>
          </a:xfrm>
          <a:prstGeom prst="rect">
            <a:avLst/>
          </a:prstGeom>
          <a:noFill/>
          <a:ln/>
        </p:spPr>
        <p:txBody>
          <a:bodyPr wrap="square" lIns="0" tIns="0" rIns="0" bIns="0" rtlCol="0" anchor="t"/>
          <a:lstStyle/>
          <a:p>
            <a:pPr algn="l" indent="0" marL="0">
              <a:buNone/>
            </a:pPr>
            <a:r>
              <a:rPr lang="en-US" sz="1000" b="1" dirty="0">
                <a:solidFill>
                  <a:srgbClr val="A0302A"/>
                </a:solidFill>
              </a:rPr>
              <a:t>Harmonisation difficile</a:t>
            </a:r>
            <a:endParaRPr lang="en-US" sz="1000" dirty="0"/>
          </a:p>
        </p:txBody>
      </p:sp>
      <p:sp>
        <p:nvSpPr>
          <p:cNvPr id="22" name="Text 20"/>
          <p:cNvSpPr/>
          <p:nvPr/>
        </p:nvSpPr>
        <p:spPr>
          <a:xfrm>
            <a:off x="4846320" y="4544568"/>
            <a:ext cx="3657600" cy="320040"/>
          </a:xfrm>
          <a:prstGeom prst="rect">
            <a:avLst/>
          </a:prstGeom>
          <a:noFill/>
          <a:ln/>
        </p:spPr>
        <p:txBody>
          <a:bodyPr wrap="square" lIns="0" tIns="0" rIns="0" bIns="0" rtlCol="0" anchor="t"/>
          <a:lstStyle/>
          <a:p>
            <a:pPr algn="l" indent="0" marL="0">
              <a:buNone/>
            </a:pPr>
            <a:r>
              <a:rPr lang="en-US" sz="950" dirty="0">
                <a:solidFill>
                  <a:srgbClr val="1D7A55"/>
                </a:solidFill>
              </a:rPr>
              <a:t>→  Gouvernance de projet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2240"/>
        </a:solidFill>
      </p:bgPr>
    </p:bg>
    <p:spTree>
      <p:nvGrpSpPr>
        <p:cNvPr id="1" name=""/>
        <p:cNvGrpSpPr/>
        <p:nvPr/>
      </p:nvGrpSpPr>
      <p:grpSpPr>
        <a:xfrm>
          <a:off x="0" y="0"/>
          <a:ext cx="0" cy="0"/>
          <a:chOff x="0" y="0"/>
          <a:chExt cx="0" cy="0"/>
        </a:xfrm>
      </p:grpSpPr>
      <p:sp>
        <p:nvSpPr>
          <p:cNvPr id="2" name="Shape 0"/>
          <p:cNvSpPr/>
          <p:nvPr/>
        </p:nvSpPr>
        <p:spPr>
          <a:xfrm>
            <a:off x="411480" y="164592"/>
            <a:ext cx="2011680" cy="292608"/>
          </a:xfrm>
          <a:prstGeom prst="roundRect">
            <a:avLst>
              <a:gd name="adj" fmla="val 18750"/>
            </a:avLst>
          </a:prstGeom>
          <a:solidFill>
            <a:srgbClr val="F0A500"/>
          </a:solidFill>
          <a:ln w="12700">
            <a:solidFill>
              <a:srgbClr val="F0A500"/>
            </a:solidFill>
            <a:prstDash val="solid"/>
          </a:ln>
        </p:spPr>
      </p:sp>
      <p:sp>
        <p:nvSpPr>
          <p:cNvPr id="3" name="Text 1"/>
          <p:cNvSpPr/>
          <p:nvPr/>
        </p:nvSpPr>
        <p:spPr>
          <a:xfrm>
            <a:off x="411480" y="164592"/>
            <a:ext cx="2011680" cy="292608"/>
          </a:xfrm>
          <a:prstGeom prst="rect">
            <a:avLst/>
          </a:prstGeom>
          <a:noFill/>
          <a:ln/>
        </p:spPr>
        <p:txBody>
          <a:bodyPr wrap="square" lIns="0" tIns="0" rIns="0" bIns="0" rtlCol="0" anchor="ctr"/>
          <a:lstStyle/>
          <a:p>
            <a:pPr algn="ctr" indent="0" marL="0">
              <a:buNone/>
            </a:pPr>
            <a:r>
              <a:rPr lang="en-US" sz="800" b="1" dirty="0">
                <a:solidFill>
                  <a:srgbClr val="FFFFFF"/>
                </a:solidFill>
              </a:rPr>
              <a:t>SUCCÈS DU PROJET</a:t>
            </a:r>
            <a:endParaRPr lang="en-US" sz="800" dirty="0"/>
          </a:p>
        </p:txBody>
      </p:sp>
      <p:sp>
        <p:nvSpPr>
          <p:cNvPr id="4" name="Text 2"/>
          <p:cNvSpPr/>
          <p:nvPr/>
        </p:nvSpPr>
        <p:spPr>
          <a:xfrm>
            <a:off x="411480" y="548640"/>
            <a:ext cx="832104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Indicateurs de succès</a:t>
            </a:r>
            <a:endParaRPr lang="en-US" sz="2800" dirty="0"/>
          </a:p>
        </p:txBody>
      </p:sp>
      <p:sp>
        <p:nvSpPr>
          <p:cNvPr id="5" name="Shape 3"/>
          <p:cNvSpPr/>
          <p:nvPr/>
        </p:nvSpPr>
        <p:spPr>
          <a:xfrm>
            <a:off x="411480" y="1371600"/>
            <a:ext cx="2148840" cy="1463040"/>
          </a:xfrm>
          <a:prstGeom prst="roundRect">
            <a:avLst>
              <a:gd name="adj" fmla="val 6250"/>
            </a:avLst>
          </a:prstGeom>
          <a:solidFill>
            <a:srgbClr val="2E7FC1">
              <a:alpha val="45000"/>
            </a:srgbClr>
          </a:solidFill>
          <a:ln w="12700">
            <a:solidFill>
              <a:srgbClr val="2E7FC1"/>
            </a:solidFill>
            <a:prstDash val="solid"/>
          </a:ln>
        </p:spPr>
      </p:sp>
      <p:sp>
        <p:nvSpPr>
          <p:cNvPr id="6" name="Text 4"/>
          <p:cNvSpPr/>
          <p:nvPr/>
        </p:nvSpPr>
        <p:spPr>
          <a:xfrm>
            <a:off x="411480" y="1463040"/>
            <a:ext cx="2148840" cy="59436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7" name="Text 5"/>
          <p:cNvSpPr/>
          <p:nvPr/>
        </p:nvSpPr>
        <p:spPr>
          <a:xfrm>
            <a:off x="502920" y="2084832"/>
            <a:ext cx="1965960" cy="658368"/>
          </a:xfrm>
          <a:prstGeom prst="rect">
            <a:avLst/>
          </a:prstGeom>
          <a:noFill/>
          <a:ln/>
        </p:spPr>
        <p:txBody>
          <a:bodyPr wrap="square" lIns="0" tIns="0" rIns="0" bIns="0" rtlCol="0" anchor="t"/>
          <a:lstStyle/>
          <a:p>
            <a:pPr algn="ctr" indent="0" marL="0">
              <a:buNone/>
            </a:pPr>
            <a:r>
              <a:rPr lang="en-US" sz="950" b="1" dirty="0">
                <a:solidFill>
                  <a:srgbClr val="D6E8F8"/>
                </a:solidFill>
              </a:rPr>
              <a:t>Matricule unique</a:t>
            </a:r>
            <a:endParaRPr lang="en-US" sz="950" dirty="0"/>
          </a:p>
          <a:p>
            <a:pPr algn="ctr" indent="0" marL="0">
              <a:buNone/>
            </a:pPr>
            <a:r>
              <a:rPr lang="en-US" sz="950" b="1" dirty="0">
                <a:solidFill>
                  <a:srgbClr val="D6E8F8"/>
                </a:solidFill>
              </a:rPr>
              <a:t>pour chaque agent</a:t>
            </a:r>
            <a:endParaRPr lang="en-US" sz="950" dirty="0"/>
          </a:p>
        </p:txBody>
      </p:sp>
      <p:sp>
        <p:nvSpPr>
          <p:cNvPr id="8" name="Shape 6"/>
          <p:cNvSpPr/>
          <p:nvPr/>
        </p:nvSpPr>
        <p:spPr>
          <a:xfrm>
            <a:off x="2743200" y="1371600"/>
            <a:ext cx="2148840" cy="1463040"/>
          </a:xfrm>
          <a:prstGeom prst="roundRect">
            <a:avLst>
              <a:gd name="adj" fmla="val 6250"/>
            </a:avLst>
          </a:prstGeom>
          <a:solidFill>
            <a:srgbClr val="2E7FC1">
              <a:alpha val="45000"/>
            </a:srgbClr>
          </a:solidFill>
          <a:ln w="12700">
            <a:solidFill>
              <a:srgbClr val="2E7FC1"/>
            </a:solidFill>
            <a:prstDash val="solid"/>
          </a:ln>
        </p:spPr>
      </p:sp>
      <p:sp>
        <p:nvSpPr>
          <p:cNvPr id="9" name="Text 7"/>
          <p:cNvSpPr/>
          <p:nvPr/>
        </p:nvSpPr>
        <p:spPr>
          <a:xfrm>
            <a:off x="2743200" y="1463040"/>
            <a:ext cx="2148840" cy="59436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0" name="Text 8"/>
          <p:cNvSpPr/>
          <p:nvPr/>
        </p:nvSpPr>
        <p:spPr>
          <a:xfrm>
            <a:off x="2834640" y="2084832"/>
            <a:ext cx="1965960" cy="658368"/>
          </a:xfrm>
          <a:prstGeom prst="rect">
            <a:avLst/>
          </a:prstGeom>
          <a:noFill/>
          <a:ln/>
        </p:spPr>
        <p:txBody>
          <a:bodyPr wrap="square" lIns="0" tIns="0" rIns="0" bIns="0" rtlCol="0" anchor="t"/>
          <a:lstStyle/>
          <a:p>
            <a:pPr algn="ctr" indent="0" marL="0">
              <a:buNone/>
            </a:pPr>
            <a:r>
              <a:rPr lang="en-US" sz="950" b="1" dirty="0">
                <a:solidFill>
                  <a:srgbClr val="D6E8F8"/>
                </a:solidFill>
              </a:rPr>
              <a:t>Parcours complet</a:t>
            </a:r>
            <a:endParaRPr lang="en-US" sz="950" dirty="0"/>
          </a:p>
          <a:p>
            <a:pPr algn="ctr" indent="0" marL="0">
              <a:buNone/>
            </a:pPr>
            <a:r>
              <a:rPr lang="en-US" sz="950" b="1" dirty="0">
                <a:solidFill>
                  <a:srgbClr val="D6E8F8"/>
                </a:solidFill>
              </a:rPr>
              <a:t>consultable</a:t>
            </a:r>
            <a:endParaRPr lang="en-US" sz="950" dirty="0"/>
          </a:p>
        </p:txBody>
      </p:sp>
      <p:sp>
        <p:nvSpPr>
          <p:cNvPr id="11" name="Shape 9"/>
          <p:cNvSpPr/>
          <p:nvPr/>
        </p:nvSpPr>
        <p:spPr>
          <a:xfrm>
            <a:off x="5074920" y="1371600"/>
            <a:ext cx="2148840" cy="1463040"/>
          </a:xfrm>
          <a:prstGeom prst="roundRect">
            <a:avLst>
              <a:gd name="adj" fmla="val 6250"/>
            </a:avLst>
          </a:prstGeom>
          <a:solidFill>
            <a:srgbClr val="2E7FC1">
              <a:alpha val="45000"/>
            </a:srgbClr>
          </a:solidFill>
          <a:ln w="12700">
            <a:solidFill>
              <a:srgbClr val="2E7FC1"/>
            </a:solidFill>
            <a:prstDash val="solid"/>
          </a:ln>
        </p:spPr>
      </p:sp>
      <p:sp>
        <p:nvSpPr>
          <p:cNvPr id="12" name="Text 10"/>
          <p:cNvSpPr/>
          <p:nvPr/>
        </p:nvSpPr>
        <p:spPr>
          <a:xfrm>
            <a:off x="5074920" y="1463040"/>
            <a:ext cx="2148840" cy="59436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3" name="Text 11"/>
          <p:cNvSpPr/>
          <p:nvPr/>
        </p:nvSpPr>
        <p:spPr>
          <a:xfrm>
            <a:off x="5166360" y="2084832"/>
            <a:ext cx="1965960" cy="658368"/>
          </a:xfrm>
          <a:prstGeom prst="rect">
            <a:avLst/>
          </a:prstGeom>
          <a:noFill/>
          <a:ln/>
        </p:spPr>
        <p:txBody>
          <a:bodyPr wrap="square" lIns="0" tIns="0" rIns="0" bIns="0" rtlCol="0" anchor="t"/>
          <a:lstStyle/>
          <a:p>
            <a:pPr algn="ctr" indent="0" marL="0">
              <a:buNone/>
            </a:pPr>
            <a:r>
              <a:rPr lang="en-US" sz="950" b="1" dirty="0">
                <a:solidFill>
                  <a:srgbClr val="D6E8F8"/>
                </a:solidFill>
              </a:rPr>
              <a:t>Affectations &amp;</a:t>
            </a:r>
            <a:endParaRPr lang="en-US" sz="950" dirty="0"/>
          </a:p>
          <a:p>
            <a:pPr algn="ctr" indent="0" marL="0">
              <a:buNone/>
            </a:pPr>
            <a:r>
              <a:rPr lang="en-US" sz="950" b="1" dirty="0">
                <a:solidFill>
                  <a:srgbClr val="D6E8F8"/>
                </a:solidFill>
              </a:rPr>
              <a:t>statuts à jour</a:t>
            </a:r>
            <a:endParaRPr lang="en-US" sz="950" dirty="0"/>
          </a:p>
        </p:txBody>
      </p:sp>
      <p:sp>
        <p:nvSpPr>
          <p:cNvPr id="14" name="Shape 12"/>
          <p:cNvSpPr/>
          <p:nvPr/>
        </p:nvSpPr>
        <p:spPr>
          <a:xfrm>
            <a:off x="7406640" y="1371600"/>
            <a:ext cx="2148840" cy="1463040"/>
          </a:xfrm>
          <a:prstGeom prst="roundRect">
            <a:avLst>
              <a:gd name="adj" fmla="val 6250"/>
            </a:avLst>
          </a:prstGeom>
          <a:solidFill>
            <a:srgbClr val="2E7FC1">
              <a:alpha val="45000"/>
            </a:srgbClr>
          </a:solidFill>
          <a:ln w="12700">
            <a:solidFill>
              <a:srgbClr val="2E7FC1"/>
            </a:solidFill>
            <a:prstDash val="solid"/>
          </a:ln>
        </p:spPr>
      </p:sp>
      <p:sp>
        <p:nvSpPr>
          <p:cNvPr id="15" name="Text 13"/>
          <p:cNvSpPr/>
          <p:nvPr/>
        </p:nvSpPr>
        <p:spPr>
          <a:xfrm>
            <a:off x="7406640" y="1463040"/>
            <a:ext cx="2148840" cy="59436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6" name="Text 14"/>
          <p:cNvSpPr/>
          <p:nvPr/>
        </p:nvSpPr>
        <p:spPr>
          <a:xfrm>
            <a:off x="7498080" y="2084832"/>
            <a:ext cx="1965960" cy="658368"/>
          </a:xfrm>
          <a:prstGeom prst="rect">
            <a:avLst/>
          </a:prstGeom>
          <a:noFill/>
          <a:ln/>
        </p:spPr>
        <p:txBody>
          <a:bodyPr wrap="square" lIns="0" tIns="0" rIns="0" bIns="0" rtlCol="0" anchor="t"/>
          <a:lstStyle/>
          <a:p>
            <a:pPr algn="ctr" indent="0" marL="0">
              <a:buNone/>
            </a:pPr>
            <a:r>
              <a:rPr lang="en-US" sz="950" b="1" dirty="0">
                <a:solidFill>
                  <a:srgbClr val="D6E8F8"/>
                </a:solidFill>
              </a:rPr>
              <a:t>Dossiers</a:t>
            </a:r>
            <a:endParaRPr lang="en-US" sz="950" dirty="0"/>
          </a:p>
          <a:p>
            <a:pPr algn="ctr" indent="0" marL="0">
              <a:buNone/>
            </a:pPr>
            <a:r>
              <a:rPr lang="en-US" sz="950" b="1" dirty="0">
                <a:solidFill>
                  <a:srgbClr val="D6E8F8"/>
                </a:solidFill>
              </a:rPr>
              <a:t>entièrement traçables</a:t>
            </a:r>
            <a:endParaRPr lang="en-US" sz="950" dirty="0"/>
          </a:p>
        </p:txBody>
      </p:sp>
      <p:sp>
        <p:nvSpPr>
          <p:cNvPr id="17" name="Shape 15"/>
          <p:cNvSpPr/>
          <p:nvPr/>
        </p:nvSpPr>
        <p:spPr>
          <a:xfrm>
            <a:off x="411480" y="3017520"/>
            <a:ext cx="2148840" cy="1463040"/>
          </a:xfrm>
          <a:prstGeom prst="roundRect">
            <a:avLst>
              <a:gd name="adj" fmla="val 6250"/>
            </a:avLst>
          </a:prstGeom>
          <a:solidFill>
            <a:srgbClr val="2E7FC1">
              <a:alpha val="45000"/>
            </a:srgbClr>
          </a:solidFill>
          <a:ln w="12700">
            <a:solidFill>
              <a:srgbClr val="2E7FC1"/>
            </a:solidFill>
            <a:prstDash val="solid"/>
          </a:ln>
        </p:spPr>
      </p:sp>
      <p:sp>
        <p:nvSpPr>
          <p:cNvPr id="18" name="Text 16"/>
          <p:cNvSpPr/>
          <p:nvPr/>
        </p:nvSpPr>
        <p:spPr>
          <a:xfrm>
            <a:off x="411480" y="3108960"/>
            <a:ext cx="2148840" cy="59436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9" name="Text 17"/>
          <p:cNvSpPr/>
          <p:nvPr/>
        </p:nvSpPr>
        <p:spPr>
          <a:xfrm>
            <a:off x="502920" y="3730752"/>
            <a:ext cx="1965960" cy="658368"/>
          </a:xfrm>
          <a:prstGeom prst="rect">
            <a:avLst/>
          </a:prstGeom>
          <a:noFill/>
          <a:ln/>
        </p:spPr>
        <p:txBody>
          <a:bodyPr wrap="square" lIns="0" tIns="0" rIns="0" bIns="0" rtlCol="0" anchor="t"/>
          <a:lstStyle/>
          <a:p>
            <a:pPr algn="ctr" indent="0" marL="0">
              <a:buNone/>
            </a:pPr>
            <a:r>
              <a:rPr lang="en-US" sz="950" b="1" dirty="0">
                <a:solidFill>
                  <a:srgbClr val="D6E8F8"/>
                </a:solidFill>
              </a:rPr>
              <a:t>Vérification</a:t>
            </a:r>
            <a:endParaRPr lang="en-US" sz="950" dirty="0"/>
          </a:p>
          <a:p>
            <a:pPr algn="ctr" indent="0" marL="0">
              <a:buNone/>
            </a:pPr>
            <a:r>
              <a:rPr lang="en-US" sz="950" b="1" dirty="0">
                <a:solidFill>
                  <a:srgbClr val="D6E8F8"/>
                </a:solidFill>
              </a:rPr>
              <a:t>en temps réel</a:t>
            </a:r>
            <a:endParaRPr lang="en-US" sz="950" dirty="0"/>
          </a:p>
        </p:txBody>
      </p:sp>
      <p:sp>
        <p:nvSpPr>
          <p:cNvPr id="20" name="Shape 18"/>
          <p:cNvSpPr/>
          <p:nvPr/>
        </p:nvSpPr>
        <p:spPr>
          <a:xfrm>
            <a:off x="2743200" y="3017520"/>
            <a:ext cx="2148840" cy="1463040"/>
          </a:xfrm>
          <a:prstGeom prst="roundRect">
            <a:avLst>
              <a:gd name="adj" fmla="val 6250"/>
            </a:avLst>
          </a:prstGeom>
          <a:solidFill>
            <a:srgbClr val="2E7FC1">
              <a:alpha val="45000"/>
            </a:srgbClr>
          </a:solidFill>
          <a:ln w="12700">
            <a:solidFill>
              <a:srgbClr val="2E7FC1"/>
            </a:solidFill>
            <a:prstDash val="solid"/>
          </a:ln>
        </p:spPr>
      </p:sp>
      <p:sp>
        <p:nvSpPr>
          <p:cNvPr id="21" name="Text 19"/>
          <p:cNvSpPr/>
          <p:nvPr/>
        </p:nvSpPr>
        <p:spPr>
          <a:xfrm>
            <a:off x="2743200" y="3108960"/>
            <a:ext cx="2148840" cy="59436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22" name="Text 20"/>
          <p:cNvSpPr/>
          <p:nvPr/>
        </p:nvSpPr>
        <p:spPr>
          <a:xfrm>
            <a:off x="2834640" y="3730752"/>
            <a:ext cx="1965960" cy="658368"/>
          </a:xfrm>
          <a:prstGeom prst="rect">
            <a:avLst/>
          </a:prstGeom>
          <a:noFill/>
          <a:ln/>
        </p:spPr>
        <p:txBody>
          <a:bodyPr wrap="square" lIns="0" tIns="0" rIns="0" bIns="0" rtlCol="0" anchor="t"/>
          <a:lstStyle/>
          <a:p>
            <a:pPr algn="ctr" indent="0" marL="0">
              <a:buNone/>
            </a:pPr>
            <a:r>
              <a:rPr lang="en-US" sz="950" b="1" dirty="0">
                <a:solidFill>
                  <a:srgbClr val="D6E8F8"/>
                </a:solidFill>
              </a:rPr>
              <a:t>Rapports statistiques</a:t>
            </a:r>
            <a:endParaRPr lang="en-US" sz="950" dirty="0"/>
          </a:p>
          <a:p>
            <a:pPr algn="ctr" indent="0" marL="0">
              <a:buNone/>
            </a:pPr>
            <a:r>
              <a:rPr lang="en-US" sz="950" b="1" dirty="0">
                <a:solidFill>
                  <a:srgbClr val="D6E8F8"/>
                </a:solidFill>
              </a:rPr>
              <a:t>disponibles</a:t>
            </a:r>
            <a:endParaRPr lang="en-US" sz="950" dirty="0"/>
          </a:p>
        </p:txBody>
      </p:sp>
      <p:sp>
        <p:nvSpPr>
          <p:cNvPr id="23" name="Shape 21"/>
          <p:cNvSpPr/>
          <p:nvPr/>
        </p:nvSpPr>
        <p:spPr>
          <a:xfrm>
            <a:off x="5074920" y="3017520"/>
            <a:ext cx="2148840" cy="1463040"/>
          </a:xfrm>
          <a:prstGeom prst="roundRect">
            <a:avLst>
              <a:gd name="adj" fmla="val 6250"/>
            </a:avLst>
          </a:prstGeom>
          <a:solidFill>
            <a:srgbClr val="2E7FC1">
              <a:alpha val="45000"/>
            </a:srgbClr>
          </a:solidFill>
          <a:ln w="12700">
            <a:solidFill>
              <a:srgbClr val="2E7FC1"/>
            </a:solidFill>
            <a:prstDash val="solid"/>
          </a:ln>
        </p:spPr>
      </p:sp>
      <p:sp>
        <p:nvSpPr>
          <p:cNvPr id="24" name="Text 22"/>
          <p:cNvSpPr/>
          <p:nvPr/>
        </p:nvSpPr>
        <p:spPr>
          <a:xfrm>
            <a:off x="5074920" y="3108960"/>
            <a:ext cx="2148840" cy="59436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25" name="Text 23"/>
          <p:cNvSpPr/>
          <p:nvPr/>
        </p:nvSpPr>
        <p:spPr>
          <a:xfrm>
            <a:off x="5166360" y="3730752"/>
            <a:ext cx="1965960" cy="658368"/>
          </a:xfrm>
          <a:prstGeom prst="rect">
            <a:avLst/>
          </a:prstGeom>
          <a:noFill/>
          <a:ln/>
        </p:spPr>
        <p:txBody>
          <a:bodyPr wrap="square" lIns="0" tIns="0" rIns="0" bIns="0" rtlCol="0" anchor="t"/>
          <a:lstStyle/>
          <a:p>
            <a:pPr algn="ctr" indent="0" marL="0">
              <a:buNone/>
            </a:pPr>
            <a:r>
              <a:rPr lang="en-US" sz="950" b="1" dirty="0">
                <a:solidFill>
                  <a:srgbClr val="D6E8F8"/>
                </a:solidFill>
              </a:rPr>
              <a:t>Système</a:t>
            </a:r>
            <a:endParaRPr lang="en-US" sz="950" dirty="0"/>
          </a:p>
          <a:p>
            <a:pPr algn="ctr" indent="0" marL="0">
              <a:buNone/>
            </a:pPr>
            <a:r>
              <a:rPr lang="en-US" sz="950" b="1" dirty="0">
                <a:solidFill>
                  <a:srgbClr val="D6E8F8"/>
                </a:solidFill>
              </a:rPr>
              <a:t>sécurisé &amp; stable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2240"/>
        </a:solidFill>
      </p:bgPr>
    </p:bg>
    <p:spTree>
      <p:nvGrpSpPr>
        <p:cNvPr id="1" name=""/>
        <p:cNvGrpSpPr/>
        <p:nvPr/>
      </p:nvGrpSpPr>
      <p:grpSpPr>
        <a:xfrm>
          <a:off x="0" y="0"/>
          <a:ext cx="0" cy="0"/>
          <a:chOff x="0" y="0"/>
          <a:chExt cx="0" cy="0"/>
        </a:xfrm>
      </p:grpSpPr>
      <p:sp>
        <p:nvSpPr>
          <p:cNvPr id="2" name="Shape 0"/>
          <p:cNvSpPr/>
          <p:nvPr/>
        </p:nvSpPr>
        <p:spPr>
          <a:xfrm>
            <a:off x="6400800" y="0"/>
            <a:ext cx="2743200" cy="5143500"/>
          </a:xfrm>
          <a:prstGeom prst="rect">
            <a:avLst/>
          </a:prstGeom>
          <a:solidFill>
            <a:srgbClr val="1A4F8A">
              <a:alpha val="50000"/>
            </a:srgbClr>
          </a:solidFill>
          <a:ln w="12700">
            <a:solidFill>
              <a:srgbClr val="1A4F8A"/>
            </a:solidFill>
            <a:prstDash val="solid"/>
          </a:ln>
        </p:spPr>
      </p:sp>
      <p:sp>
        <p:nvSpPr>
          <p:cNvPr id="3" name="Shape 1"/>
          <p:cNvSpPr/>
          <p:nvPr/>
        </p:nvSpPr>
        <p:spPr>
          <a:xfrm>
            <a:off x="0" y="4846320"/>
            <a:ext cx="9144000" cy="73152"/>
          </a:xfrm>
          <a:prstGeom prst="rect">
            <a:avLst/>
          </a:prstGeom>
          <a:solidFill>
            <a:srgbClr val="F0A500"/>
          </a:solidFill>
          <a:ln w="12700">
            <a:solidFill>
              <a:srgbClr val="F0A500"/>
            </a:solidFill>
            <a:prstDash val="solid"/>
          </a:ln>
        </p:spPr>
      </p:sp>
      <p:sp>
        <p:nvSpPr>
          <p:cNvPr id="4" name="Text 2"/>
          <p:cNvSpPr/>
          <p:nvPr/>
        </p:nvSpPr>
        <p:spPr>
          <a:xfrm>
            <a:off x="411480" y="548640"/>
            <a:ext cx="5486400" cy="502920"/>
          </a:xfrm>
          <a:prstGeom prst="rect">
            <a:avLst/>
          </a:prstGeom>
          <a:noFill/>
          <a:ln/>
        </p:spPr>
        <p:txBody>
          <a:bodyPr wrap="square" lIns="0" tIns="0" rIns="0" bIns="0" rtlCol="0" anchor="ctr"/>
          <a:lstStyle/>
          <a:p>
            <a:pPr algn="l" indent="0" marL="0">
              <a:buNone/>
            </a:pPr>
            <a:r>
              <a:rPr lang="en-US" sz="1300" b="1" dirty="0">
                <a:solidFill>
                  <a:srgbClr val="F0A500"/>
                </a:solidFill>
                <a:latin typeface="Cambria" pitchFamily="34" charset="0"/>
                <a:ea typeface="Cambria" pitchFamily="34" charset="-122"/>
                <a:cs typeface="Cambria" pitchFamily="34" charset="-120"/>
              </a:rPr>
              <a:t>PNIGT-FS</a:t>
            </a:r>
            <a:endParaRPr lang="en-US" sz="1300" dirty="0"/>
          </a:p>
        </p:txBody>
      </p:sp>
      <p:sp>
        <p:nvSpPr>
          <p:cNvPr id="5" name="Text 3"/>
          <p:cNvSpPr/>
          <p:nvPr/>
        </p:nvSpPr>
        <p:spPr>
          <a:xfrm>
            <a:off x="411480" y="1143000"/>
            <a:ext cx="5669280" cy="1188720"/>
          </a:xfrm>
          <a:prstGeom prst="rect">
            <a:avLst/>
          </a:prstGeom>
          <a:noFill/>
          <a:ln/>
        </p:spPr>
        <p:txBody>
          <a:bodyPr wrap="square" lIns="0" tIns="0" rIns="0" bIns="0" rtlCol="0" anchor="t"/>
          <a:lstStyle/>
          <a:p>
            <a:pPr algn="l" indent="0" marL="0">
              <a:buNone/>
            </a:pPr>
            <a:r>
              <a:rPr lang="en-US" sz="2600" b="1" dirty="0">
                <a:solidFill>
                  <a:srgbClr val="FFFFFF"/>
                </a:solidFill>
                <a:latin typeface="Cambria" pitchFamily="34" charset="0"/>
                <a:ea typeface="Cambria" pitchFamily="34" charset="-122"/>
                <a:cs typeface="Cambria" pitchFamily="34" charset="-120"/>
              </a:rPr>
              <a:t>Une infrastructure numérique</a:t>
            </a:r>
            <a:endParaRPr lang="en-US" sz="2600" dirty="0"/>
          </a:p>
          <a:p>
            <a:pPr algn="l" indent="0" marL="0">
              <a:buNone/>
            </a:pPr>
            <a:r>
              <a:rPr lang="en-US" sz="2600" b="1" dirty="0">
                <a:solidFill>
                  <a:srgbClr val="FFFFFF"/>
                </a:solidFill>
                <a:latin typeface="Cambria" pitchFamily="34" charset="0"/>
                <a:ea typeface="Cambria" pitchFamily="34" charset="-122"/>
                <a:cs typeface="Cambria" pitchFamily="34" charset="-120"/>
              </a:rPr>
              <a:t>stratégique pour la Côte d'Ivoire</a:t>
            </a:r>
            <a:endParaRPr lang="en-US" sz="2600" dirty="0"/>
          </a:p>
        </p:txBody>
      </p:sp>
      <p:sp>
        <p:nvSpPr>
          <p:cNvPr id="6" name="Text 4"/>
          <p:cNvSpPr/>
          <p:nvPr/>
        </p:nvSpPr>
        <p:spPr>
          <a:xfrm>
            <a:off x="411480" y="2468880"/>
            <a:ext cx="5760720" cy="1280160"/>
          </a:xfrm>
          <a:prstGeom prst="rect">
            <a:avLst/>
          </a:prstGeom>
          <a:noFill/>
          <a:ln/>
        </p:spPr>
        <p:txBody>
          <a:bodyPr wrap="square" lIns="0" tIns="0" rIns="0" bIns="0" rtlCol="0" anchor="t"/>
          <a:lstStyle/>
          <a:p>
            <a:pPr algn="l" indent="0" marL="0">
              <a:buNone/>
            </a:pPr>
            <a:r>
              <a:rPr lang="en-US" sz="1200" i="1" dirty="0">
                <a:solidFill>
                  <a:srgbClr val="D6E8F8"/>
                </a:solidFill>
              </a:rPr>
              <a:t>Ce projet représente un levier majeur de modernisation de l'administration des forces de sécurité. Il permettra d'unifier les données, de sécuriser les dossiers, de fiabiliser les carrières et de renforcer la capacité de pilotage des autorités de l'État.</a:t>
            </a:r>
            <a:endParaRPr lang="en-US" sz="1200" dirty="0"/>
          </a:p>
        </p:txBody>
      </p:sp>
      <p:sp>
        <p:nvSpPr>
          <p:cNvPr id="7" name="Text 5"/>
          <p:cNvSpPr/>
          <p:nvPr/>
        </p:nvSpPr>
        <p:spPr>
          <a:xfrm>
            <a:off x="411480" y="3749040"/>
            <a:ext cx="5029200" cy="292608"/>
          </a:xfrm>
          <a:prstGeom prst="rect">
            <a:avLst/>
          </a:prstGeom>
          <a:noFill/>
          <a:ln/>
        </p:spPr>
        <p:txBody>
          <a:bodyPr wrap="square" lIns="0" tIns="0" rIns="0" bIns="0" rtlCol="0" anchor="t"/>
          <a:lstStyle/>
          <a:p>
            <a:pPr algn="l" indent="0" marL="0">
              <a:buNone/>
            </a:pPr>
            <a:r>
              <a:rPr lang="en-US" sz="1100" b="1" dirty="0">
                <a:solidFill>
                  <a:srgbClr val="F0A500"/>
                </a:solidFill>
              </a:rPr>
              <a:t>✓  </a:t>
            </a:r>
            <a:pPr algn="l" indent="0" marL="0">
              <a:buNone/>
            </a:pPr>
            <a:r>
              <a:rPr lang="en-US" sz="1100" dirty="0">
                <a:solidFill>
                  <a:srgbClr val="FFFFFF"/>
                </a:solidFill>
              </a:rPr>
              <a:t>11 modules fonctionnels</a:t>
            </a:r>
            <a:endParaRPr lang="en-US" sz="1100" dirty="0"/>
          </a:p>
        </p:txBody>
      </p:sp>
      <p:sp>
        <p:nvSpPr>
          <p:cNvPr id="8" name="Text 6"/>
          <p:cNvSpPr/>
          <p:nvPr/>
        </p:nvSpPr>
        <p:spPr>
          <a:xfrm>
            <a:off x="411480" y="4050792"/>
            <a:ext cx="5029200" cy="292608"/>
          </a:xfrm>
          <a:prstGeom prst="rect">
            <a:avLst/>
          </a:prstGeom>
          <a:noFill/>
          <a:ln/>
        </p:spPr>
        <p:txBody>
          <a:bodyPr wrap="square" lIns="0" tIns="0" rIns="0" bIns="0" rtlCol="0" anchor="t"/>
          <a:lstStyle/>
          <a:p>
            <a:pPr algn="l" indent="0" marL="0">
              <a:buNone/>
            </a:pPr>
            <a:r>
              <a:rPr lang="en-US" sz="1100" b="1" dirty="0">
                <a:solidFill>
                  <a:srgbClr val="F0A500"/>
                </a:solidFill>
              </a:rPr>
              <a:t>✓  </a:t>
            </a:r>
            <a:pPr algn="l" indent="0" marL="0">
              <a:buNone/>
            </a:pPr>
            <a:r>
              <a:rPr lang="en-US" sz="1100" dirty="0">
                <a:solidFill>
                  <a:srgbClr val="FFFFFF"/>
                </a:solidFill>
              </a:rPr>
              <a:t>6 profils utilisateurs sécurisés</a:t>
            </a:r>
            <a:endParaRPr lang="en-US" sz="1100" dirty="0"/>
          </a:p>
        </p:txBody>
      </p:sp>
      <p:sp>
        <p:nvSpPr>
          <p:cNvPr id="9" name="Text 7"/>
          <p:cNvSpPr/>
          <p:nvPr/>
        </p:nvSpPr>
        <p:spPr>
          <a:xfrm>
            <a:off x="411480" y="4352544"/>
            <a:ext cx="5029200" cy="292608"/>
          </a:xfrm>
          <a:prstGeom prst="rect">
            <a:avLst/>
          </a:prstGeom>
          <a:noFill/>
          <a:ln/>
        </p:spPr>
        <p:txBody>
          <a:bodyPr wrap="square" lIns="0" tIns="0" rIns="0" bIns="0" rtlCol="0" anchor="t"/>
          <a:lstStyle/>
          <a:p>
            <a:pPr algn="l" indent="0" marL="0">
              <a:buNone/>
            </a:pPr>
            <a:r>
              <a:rPr lang="en-US" sz="1100" b="1" dirty="0">
                <a:solidFill>
                  <a:srgbClr val="F0A500"/>
                </a:solidFill>
              </a:rPr>
              <a:t>✓  </a:t>
            </a:r>
            <a:pPr algn="l" indent="0" marL="0">
              <a:buNone/>
            </a:pPr>
            <a:r>
              <a:rPr lang="en-US" sz="1100" dirty="0">
                <a:solidFill>
                  <a:srgbClr val="FFFFFF"/>
                </a:solidFill>
              </a:rPr>
              <a:t>5 phases de déploiement</a:t>
            </a:r>
            <a:endParaRPr lang="en-US" sz="1100" dirty="0"/>
          </a:p>
        </p:txBody>
      </p:sp>
      <p:sp>
        <p:nvSpPr>
          <p:cNvPr id="10" name="Text 8"/>
          <p:cNvSpPr/>
          <p:nvPr/>
        </p:nvSpPr>
        <p:spPr>
          <a:xfrm>
            <a:off x="411480" y="4617720"/>
            <a:ext cx="5029200" cy="292608"/>
          </a:xfrm>
          <a:prstGeom prst="rect">
            <a:avLst/>
          </a:prstGeom>
          <a:noFill/>
          <a:ln/>
        </p:spPr>
        <p:txBody>
          <a:bodyPr wrap="square" lIns="0" tIns="0" rIns="0" bIns="0" rtlCol="0" anchor="t"/>
          <a:lstStyle/>
          <a:p>
            <a:pPr algn="l" indent="0" marL="0">
              <a:buNone/>
            </a:pPr>
            <a:r>
              <a:rPr lang="en-US" sz="1100" b="1" dirty="0">
                <a:solidFill>
                  <a:srgbClr val="F0A500"/>
                </a:solidFill>
              </a:rPr>
              <a:t>✓  </a:t>
            </a:r>
            <a:pPr algn="l" indent="0" marL="0">
              <a:buNone/>
            </a:pPr>
            <a:r>
              <a:rPr lang="en-US" sz="1100" dirty="0">
                <a:solidFill>
                  <a:srgbClr val="FFFFFF"/>
                </a:solidFill>
              </a:rPr>
              <a:t>Architecture évolutive et extensible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PNIGT-FS – Plateforme Nationale Intelligente de Gestion et de Traçabilité des Forces de Sécurité</dc:title>
  <dc:subject>PptxGenJS Presentation</dc:subject>
  <dc:creator>PptxGenJS</dc:creator>
  <cp:lastModifiedBy>PptxGenJS</cp:lastModifiedBy>
  <cp:revision>1</cp:revision>
  <dcterms:created xsi:type="dcterms:W3CDTF">2026-06-08T22:53:29Z</dcterms:created>
  <dcterms:modified xsi:type="dcterms:W3CDTF">2026-06-08T22:53:29Z</dcterms:modified>
</cp:coreProperties>
</file>