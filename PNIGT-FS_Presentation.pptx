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estimé (%)</c:v>
                </c:pt>
              </c:strCache>
            </c:strRef>
          </c:tx>
          <c:spPr>
            <a:solidFill>
              <a:srgbClr val="2E7B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B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225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Réduction
erreurs RH</c:v>
                  </c:pt>
                  <c:pt idx="1">
                    <c:v>Gain temps
vérification</c:v>
                  </c:pt>
                  <c:pt idx="2">
                    <c:v>Couverture
agents</c:v>
                  </c:pt>
                  <c:pt idx="3">
                    <c:v>Disponibilité
système</c:v>
                  </c:pt>
                  <c:pt idx="4">
                    <c:v>Satisfaction
utilisateurs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95</c:v>
                </c:pt>
                <c:pt idx="2">
                  <c:v>100</c:v>
                </c:pt>
                <c:pt idx="3">
                  <c:v>99.9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Présenter brièvement : votre nom, votre filière, et l'idée centrale du projet. Insister sur l'urgence du problème : la gestion des forces de sécurité en CI repose encore sur du papier.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60 000+ agents sont concernés. Mentionner des exemples concrets : un commandant qui ne peut pas savoir si un soldat est encore en service, ou des promotions accordées en double.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des pays comme le Rwanda ou le Sénégal ont déjà prouvé que c'est possible. La CI dispose de l'Agenda Digital 2030 comme cadre politique porteur.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PNIGT-FS comme une infrastructure d'État, pas simplement un logiciel. Mettre en avant l'aspect national et stratégique.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les modules les plus importants selon l'audience. Pour un jury technique, insister sur le module 10 (audit/journalisation) et 11 (IA). Pour un décideur, insister sur le module 9 (tableaux de bord).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comment une recherche par matricule donne accès à toutes les infos d'un agent en quelques secondes. C'est la valeur ajoutée concrète que comprend tout décideur.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un jury technique, détailler le choix microservices vs monolithique. Pour un décideur, insister sur la souveraineté des données (hébergement national) et la sécurité.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principe de moindre privilège est central : chaque profil ne voit que ce dont il a besoin. Mentionner que chaque action est journalisée avec l'identité de l'utilisateur.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critique : la plateforme manipule des données sensibles (forces de sécurité). Insister sur la conformité légale, notamment la Loi 2013-450 et la nécessité d'un décret interministériel de création.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MVP au 8ème mois : c'est ce qu'on peut montrer à l'audience comme livrable concret. Le déploiement progressif réduit les risques.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 à présenter rapidement. Insister sur la force principale (besoin réel urgent) et la menace principale (résistance au changement → nécessité de conduite du changement).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indicateurs sont les critères de succès du projet. Ils serviront à l'évaluation officielle lors de la recette par le COPIL.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une note forte : ce projet peut être réalisé, d'autres pays africains l'ont prouvé. La CI a le contexte favorable (Agenda Digital 2030, volonté politique). Inviter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4B8C">
              <a:alpha val="25000"/>
            </a:srgbClr>
          </a:solidFill>
          <a:ln w="12700">
            <a:solidFill>
              <a:srgbClr val="1A4B8C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E7BCC">
              <a:alpha val="20000"/>
            </a:srgbClr>
          </a:solidFill>
          <a:ln w="12700">
            <a:solidFill>
              <a:srgbClr val="2E7BC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D4A017">
              <a:alpha val="30000"/>
            </a:srgbClr>
          </a:solidFill>
          <a:ln w="12700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JOURNÉE CARRIÈRE 2025  ·  DIGITALISATION DE L'ADMINISTRATION PUBLIQUE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PNIGT-FS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Nationale Intelligente de Gestion
</a:t>
            </a:r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de Traçabilité des Forces de Sécurité en Côte d'Ivoire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Thème : </a:t>
            </a:r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Digitalisation de l'Administration Publique — Cas de la Côte d'Ivoire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— Étudiant en Informatique / Génie Logiciel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LA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administrative des forces de sécurité en Côte d'Ivoire reste fragmentée, manuelle et non sécurisée.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2651760" cy="201168"/>
          </a:xfrm>
          <a:prstGeom prst="rect">
            <a:avLst>
              <a:gd name="adj" fmla="val 36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47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dispersés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Excel isolés,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archives non connectées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91640"/>
            <a:ext cx="2651760" cy="201168"/>
          </a:xfrm>
          <a:prstGeom prst="rect">
            <a:avLst>
              <a:gd name="adj" fmla="val 36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47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traçabilité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Affectations, grades,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formations non suivis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691640"/>
            <a:ext cx="2651760" cy="201168"/>
          </a:xfrm>
          <a:prstGeom prst="rect">
            <a:avLst>
              <a:gd name="adj" fmla="val 3636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947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de fraude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Falsification facile,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fantômes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2651760" cy="201168"/>
          </a:xfrm>
          <a:prstGeom prst="rect">
            <a:avLst>
              <a:gd name="adj" fmla="val 3636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aveugles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indicateur RH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fiable pour piloter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08960"/>
            <a:ext cx="2651760" cy="201168"/>
          </a:xfrm>
          <a:prstGeom prst="rect">
            <a:avLst>
              <a:gd name="adj" fmla="val 3636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lente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contrôler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 en temps réel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1089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3108960"/>
            <a:ext cx="2651760" cy="201168"/>
          </a:xfrm>
          <a:prstGeom prst="rect">
            <a:avLst>
              <a:gd name="adj" fmla="val 3636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dupliquées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coûteuses entre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différents corps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CONTEXTE &amp; CHIFFRES CLÉS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A4B8C">
              <a:alpha val="7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60 000+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concernés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Police, Gendarmerie,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Armée, Pompiers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A4B8C">
              <a:alpha val="7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143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Corps de sécurité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Actuellement non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interconnectés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A4B8C">
              <a:alpha val="7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143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626864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unifié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plateforme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 existante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A4B8C">
              <a:alpha val="7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143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803136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Digital CI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2 : Transformation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l'État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africains ayant réussi la digitalisation de leurs forces 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🇷🇼 Rwanda — 70% erreurs paie éliminées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🇸🇳 Sénégal — 80 000 dossiers centralisés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18304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🇰🇪 Kenya — 12 000 agents fantômes supprimés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94576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🇫🇷 France — Référence sécurité RH Armées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VISION &amp;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numérique nationale, unifiée et sécurisée pour suivre le parcours complet de chaque agent — de son entrée en école à sa sortie du service.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23774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PNIGT-FS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Nationale Intelligente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Gestion et Traçabilité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347472" cy="347472"/>
          </a:xfrm>
          <a:prstGeom prst="ellipse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106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Matricule unique national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38988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infalsifiable pour chaque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801368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938528"/>
            <a:ext cx="347472" cy="347472"/>
          </a:xfrm>
          <a:prstGeom prst="ellipse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8562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13969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traçable de l'entrée à la retraite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551176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88336"/>
            <a:ext cx="347472" cy="347472"/>
          </a:xfrm>
          <a:prstGeom prst="ellipse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88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606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temps réel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889504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d'un agent en moins de 5 secondes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300984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438144"/>
            <a:ext cx="347472" cy="347472"/>
          </a:xfrm>
          <a:prstGeom prst="ellipse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355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3931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prédictives et aide à la décision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050792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187952"/>
            <a:ext cx="347472" cy="347472"/>
          </a:xfrm>
          <a:prstGeom prst="ellipse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87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1056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renforcée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38912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AES-256, accès par rôle,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11 MODULES FONCTIONNELS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E7BCC">
              <a:alpha val="8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E7BCC">
              <a:alpha val="8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agents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A4B8C">
              <a:alpha val="80000"/>
            </a:srgbClr>
          </a:solidFill>
          <a:ln w="12700">
            <a:solidFill>
              <a:srgbClr val="1A4B8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36592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 carrière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A4B8C">
              <a:alpha val="80000"/>
            </a:srgbClr>
          </a:solidFill>
          <a:ln w="12700">
            <a:solidFill>
              <a:srgbClr val="1A4B8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12864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1A4B8C">
              <a:alpha val="80000"/>
            </a:srgbClr>
          </a:solidFill>
          <a:ln w="12700">
            <a:solidFill>
              <a:srgbClr val="1A4B8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6700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administratif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50592" y="22128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E8B57">
              <a:alpha val="80000"/>
            </a:srgbClr>
          </a:solidFill>
          <a:ln w="12700">
            <a:solidFill>
              <a:srgbClr val="2E8B57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6700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&amp; Aptitude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26864" y="22128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2E8B57">
              <a:alpha val="80000"/>
            </a:srgbClr>
          </a:solidFill>
          <a:ln w="12700">
            <a:solidFill>
              <a:srgbClr val="2E8B5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6700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03136" y="22128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D4A017">
              <a:alpha val="80000"/>
            </a:srgbClr>
          </a:solidFill>
          <a:ln w="12700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12864" y="26700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&amp; Vérif.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511296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D4A017">
              <a:alpha val="80000"/>
            </a:srgbClr>
          </a:solidFill>
          <a:ln w="12700">
            <a:solidFill>
              <a:srgbClr val="D4A017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9684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50592" y="3511296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8B2252">
              <a:alpha val="80000"/>
            </a:srgbClr>
          </a:solidFill>
          <a:ln w="12700">
            <a:solidFill>
              <a:srgbClr val="8B2252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9684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26864" y="3511296"/>
            <a:ext cx="4352544" cy="1143000"/>
          </a:xfrm>
          <a:prstGeom prst="roundRect">
            <a:avLst>
              <a:gd name="adj" fmla="val 8000"/>
            </a:avLst>
          </a:prstGeom>
          <a:solidFill>
            <a:srgbClr val="C0392B">
              <a:alpha val="8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3968496"/>
            <a:ext cx="4169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IA 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LE DOSSIER NUMÉRIQUE DE L'AGENT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234440"/>
            <a:ext cx="1508760" cy="1508760"/>
          </a:xfrm>
          <a:prstGeom prst="ellipse">
            <a:avLst/>
          </a:prstGeom>
          <a:solidFill>
            <a:srgbClr val="2E7BCC">
              <a:alpha val="80000"/>
            </a:srgbClr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👮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KONAN Kouassi 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MAT-CI-2024-00847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A7B4A"/>
          </a:solidFill>
          <a:ln w="12700">
            <a:solidFill>
              <a:srgbClr val="1A7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EN ACTIVITÉ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931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 Nationale · Abidjan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4206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Principal · Grade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05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&amp; Contact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1353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Nom, prénom, date/lieu naissance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64992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Photo, pièces justificatives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64992" y="21762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Adresse, tel, email pro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00584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05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Carrière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85232" y="1353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École de formation + résultats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Grades successifs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85232" y="21762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Promotions et sanctions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100584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100584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0058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05472" y="1353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Unités avec dates début/fin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05472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Fonctions occupées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05472" y="21762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Unité actuelle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88036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88036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880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officiels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2278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Diplômes et certifications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Arrêtés, décisions admin.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64992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Pièces archivées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12080" y="288036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12080" y="288036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2880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&amp; Aptitude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85232" y="32278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Visites médicales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85232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Aptitude au service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85232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Restrictions éventuelles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288036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132320" y="2880360"/>
            <a:ext cx="1783080" cy="274320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2880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05472" y="32278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Journal de toutes modifications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05472" y="3639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Auteur + date + action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05472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Infalsifiable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ARCHITECTURE TECHNIQUE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6400800" cy="621792"/>
          </a:xfrm>
          <a:prstGeom prst="roundRect">
            <a:avLst>
              <a:gd name="adj" fmla="val 8824"/>
            </a:avLst>
          </a:prstGeom>
          <a:solidFill>
            <a:srgbClr val="2E7BCC">
              <a:alpha val="85000"/>
            </a:srgbClr>
          </a:solidFill>
          <a:ln w="12700">
            <a:solidFill>
              <a:srgbClr val="2E7BCC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PRÉSENTATION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(React.js) + Mobile PWA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490472"/>
            <a:ext cx="914" cy="73152"/>
          </a:xfrm>
          <a:prstGeom prst="line">
            <a:avLst/>
          </a:prstGeom>
          <a:noFill/>
          <a:ln w="19050">
            <a:solidFill>
              <a:srgbClr val="4488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6400800" cy="621792"/>
          </a:xfrm>
          <a:prstGeom prst="roundRect">
            <a:avLst>
              <a:gd name="adj" fmla="val 8824"/>
            </a:avLst>
          </a:prstGeom>
          <a:solidFill>
            <a:srgbClr val="1A4B8C">
              <a:alpha val="85000"/>
            </a:srgbClr>
          </a:solidFill>
          <a:ln w="12700">
            <a:solidFill>
              <a:srgbClr val="1A4B8C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APPLICATIVE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sécurisées · Microservices · Moteur 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221992"/>
            <a:ext cx="914" cy="73152"/>
          </a:xfrm>
          <a:prstGeom prst="line">
            <a:avLst/>
          </a:prstGeom>
          <a:noFill/>
          <a:ln w="19050">
            <a:solidFill>
              <a:srgbClr val="4488A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331720"/>
            <a:ext cx="6400800" cy="621792"/>
          </a:xfrm>
          <a:prstGeom prst="roundRect">
            <a:avLst>
              <a:gd name="adj" fmla="val 8824"/>
            </a:avLst>
          </a:prstGeom>
          <a:solidFill>
            <a:srgbClr val="2E8B57">
              <a:alpha val="85000"/>
            </a:srgbClr>
          </a:solidFill>
          <a:ln w="12700">
            <a:solidFill>
              <a:srgbClr val="2E8B57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DONNÉES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Stockage documentaire MinIO · Redis cache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953512"/>
            <a:ext cx="914" cy="73152"/>
          </a:xfrm>
          <a:prstGeom prst="line">
            <a:avLst/>
          </a:prstGeom>
          <a:noFill/>
          <a:ln w="19050">
            <a:solidFill>
              <a:srgbClr val="4488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3063240"/>
            <a:ext cx="6400800" cy="621792"/>
          </a:xfrm>
          <a:prstGeom prst="roundRect">
            <a:avLst>
              <a:gd name="adj" fmla="val 8824"/>
            </a:avLst>
          </a:prstGeom>
          <a:solidFill>
            <a:srgbClr val="8B2252">
              <a:alpha val="85000"/>
            </a:srgbClr>
          </a:solidFill>
          <a:ln w="12700">
            <a:solidFill>
              <a:srgbClr val="8B2252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SÉCURITÉ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· TLS 1.3 · AES-256 · 2FA · SIEM · Audit logs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685032"/>
            <a:ext cx="914" cy="73152"/>
          </a:xfrm>
          <a:prstGeom prst="line">
            <a:avLst/>
          </a:prstGeom>
          <a:noFill/>
          <a:ln w="19050">
            <a:solidFill>
              <a:srgbClr val="4488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794760"/>
            <a:ext cx="6400800" cy="621792"/>
          </a:xfrm>
          <a:prstGeom prst="roundRect">
            <a:avLst>
              <a:gd name="adj" fmla="val 8824"/>
            </a:avLst>
          </a:prstGeom>
          <a:solidFill>
            <a:srgbClr val="D4A017">
              <a:alpha val="85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redondants · Datacenter national · Sauvegardes auto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95160" y="868680"/>
            <a:ext cx="1920240" cy="3547872"/>
          </a:xfrm>
          <a:prstGeom prst="roundRect">
            <a:avLst>
              <a:gd name="adj" fmla="val 4762"/>
            </a:avLst>
          </a:prstGeom>
          <a:solidFill>
            <a:srgbClr val="1A4B8C">
              <a:alpha val="8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2FA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App Mobile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IA embarquée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2880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QR Code agent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0" y="3383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API ouvertes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4088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souverain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PROFILS &amp; DROITS D'ACCÈS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06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Admin National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Accès total · Configuration · Création comptes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Journal complet · Paramétrage global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06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DRH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6184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Gestion agents · Affectations · Statuts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Rapports · Mise à jour dossiers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06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Commandement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6184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Consultation unité · Statuts en temps réel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Demandes de mutation (avec habilitation)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2666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École Formation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Enregistrement recrues · Résultats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Validation diplômes · Suivi promo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718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302666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Service Médical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Données santé uniquement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Visites médicales · Aptitudes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2666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Agent concerné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Son propre dossier (lecture)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4069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Demande de correction (procédure)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SÉCURITÉ &amp; CADRE JURIDIQUE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2FA obligatoire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forte pour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profils sensibles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024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RBAC granulaire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2032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précis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rôle utilisateur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0241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AES-256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8304" y="1444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sensibles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957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TLS 1.3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163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comm.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chiffrées en transit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3957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Audit 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28163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infalsifiable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toutes 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8B2252">
              <a:alpha val="70000"/>
            </a:srgbClr>
          </a:solidFill>
          <a:ln w="12700">
            <a:solidFill>
              <a:srgbClr val="BB3377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3957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Pen 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8163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sécurité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tout déploiement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914400"/>
            <a:ext cx="2148840" cy="3749040"/>
          </a:xfrm>
          <a:prstGeom prst="roundRect">
            <a:avLst>
              <a:gd name="adj" fmla="val 4255"/>
            </a:avLst>
          </a:prstGeom>
          <a:solidFill>
            <a:srgbClr val="1A4B8C">
              <a:alpha val="8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0058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LÉGAL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41732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1C2B3A">
              <a:alpha val="90000"/>
            </a:srgbClr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435608"/>
            <a:ext cx="1874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2013-450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données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0" y="205740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1C2B3A">
              <a:alpha val="90000"/>
            </a:srgbClr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075688"/>
            <a:ext cx="1874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2013-451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Cybercriminalité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269748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1C2B3A">
              <a:alpha val="90000"/>
            </a:srgbClr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715768"/>
            <a:ext cx="1874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Décret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requis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333756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1C2B3A">
              <a:alpha val="90000"/>
            </a:srgbClr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355848"/>
            <a:ext cx="1874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ARTCI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3977640"/>
            <a:ext cx="1965960" cy="530352"/>
          </a:xfrm>
          <a:prstGeom prst="roundRect">
            <a:avLst>
              <a:gd name="adj" fmla="val 8621"/>
            </a:avLst>
          </a:prstGeom>
          <a:solidFill>
            <a:srgbClr val="1C2B3A">
              <a:alpha val="90000"/>
            </a:srgbClr>
          </a:solidFill>
          <a:ln w="12700">
            <a:solidFill>
              <a:srgbClr val="3355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995928"/>
            <a:ext cx="1874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Malabo UA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PHASAGE — 14 MOIS POUR LA MISE EN PRODUCTION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298448"/>
            <a:ext cx="16459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64208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005840" cy="27432"/>
          </a:xfrm>
          <a:prstGeom prst="rect">
            <a:avLst/>
          </a:prstGeom>
          <a:solidFill>
            <a:srgbClr val="2E7BCC"/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860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Analyse besoins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926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Rôles définis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35661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Exigences validées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93392" y="1051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051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47872" y="1298448"/>
            <a:ext cx="16459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1664208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39112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67712" y="2148840"/>
            <a:ext cx="1005840" cy="27432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22860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Architecture BDD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66544" y="2926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Maquettes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66544" y="35661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Parcours user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12464" y="1051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2464" y="1051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12464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66944" y="1298448"/>
            <a:ext cx="16459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12464" y="1664208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58184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86784" y="2148840"/>
            <a:ext cx="100584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22860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Agents + matricule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85616" y="2926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Affectations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85616" y="35661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Grades + statuts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31536" y="1051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31536" y="1051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31536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86016" y="1298448"/>
            <a:ext cx="164592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31536" y="1664208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77256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Enrichissement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05856" y="2148840"/>
            <a:ext cx="10058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2860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Santé + docs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04688" y="2926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IA &amp; alertes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04688" y="35661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Tableaux de bord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50608" y="10515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10515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50608" y="1298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50608" y="1664208"/>
            <a:ext cx="1554480" cy="32004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96328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24928" y="2148840"/>
            <a:ext cx="100584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22860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Tests sécu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29260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Pilote terrain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223760" y="35661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Généralisation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800600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800600"/>
            <a:ext cx="8595360" cy="182880"/>
          </a:xfrm>
          <a:prstGeom prst="roundRect">
            <a:avLst>
              <a:gd name="adj" fmla="val 25000"/>
            </a:avLst>
          </a:prstGeom>
          <a:solidFill>
            <a:srgbClr val="2E7BCC">
              <a:alpha val="50000"/>
            </a:srgbClr>
          </a:solidFill>
          <a:ln w="12700">
            <a:solidFill>
              <a:srgbClr val="2E7B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démontrable au 8ème mois  ·  Déploiement national à 14 mois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ANALYSE SWOT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0D3D25">
              <a:alpha val="90000"/>
            </a:srgbClr>
          </a:solidFill>
          <a:ln w="12700">
            <a:solidFill>
              <a:srgbClr val="1A7B4A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FORCES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Besoin opérationnel urgent et réel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Soutien institutionnel fort possible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Architecture modulaire évolutive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S'inscrit dans l'Agenda Digital CI 2030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3D2000">
              <a:alpha val="90000"/>
            </a:srgbClr>
          </a:solidFill>
          <a:ln w="12700">
            <a:solidFill>
              <a:srgbClr val="B25000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601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FAIBLESSES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3560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Qualité données historiques incertaine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77393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Dépendance à l'infrastructure réseau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1122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Besoin élevé de formation utilisateurs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Investissement initial significatif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001D3D">
              <a:alpha val="90000"/>
            </a:srgbClr>
          </a:solidFill>
          <a:ln w="12700">
            <a:solidFill>
              <a:srgbClr val="2E7BC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632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OPPORTUNITÉS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5387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Agenda Digital CI 2030 en cours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8770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Financement int. disponible (BAD, BM)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21538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Modèles africains réussis à copier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55371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Synergies avec d'autres SI de l'État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3D0010">
              <a:alpha val="90000"/>
            </a:srgbClr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632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MENACES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53872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Résistance au changement culturel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387705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Risques de cybersécurité croissants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421538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Difficulté d'harmonisation inter-corps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455371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Volatilité des financements extérieurs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IMPACT ATTENDU &amp; INDICATEURS DE SUCCÈS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02412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75120" y="1069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avec matricule unique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1700784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171907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75120" y="17647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vérification d'un agent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395728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41401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99,9%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75120" y="24597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système cible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3090672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108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7512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sécurité critique toléré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3785616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23560" y="38039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675120" y="38496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formés et actifs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4B8C">
              <a:alpha val="20000"/>
            </a:srgbClr>
          </a:solidFill>
          <a:ln w="12700">
            <a:solidFill>
              <a:srgbClr val="1A4B8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PNIGT-FS :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infrastructure numérique stratégique nationale, pas un simple logiciel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réponse concrète aux défaillances documentées de la gestion RH des forces de sécurité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70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aligné sur l'Agenda Digital CI 2030 et les bonnes pratiques africaines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320040" cy="3200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291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déploiement progressif, maîtrisé et évaluable dès le 8ème mois (MVP)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numérique stratégique nationale  ·  Portage politique requis  ·  Financement mixte État + Bailleurs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 — Des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PNIGT-FS — Présentation</dc:title>
  <dc:subject>PptxGenJS Presentation</dc:subject>
  <dc:creator>PNIGT-FS Project</dc:creator>
  <cp:lastModifiedBy>PNIGT-FS Project</cp:lastModifiedBy>
  <cp:revision>1</cp:revision>
  <dcterms:created xsi:type="dcterms:W3CDTF">2026-06-09T11:18:40Z</dcterms:created>
  <dcterms:modified xsi:type="dcterms:W3CDTF">2026-06-09T11:18:40Z</dcterms:modified>
</cp:coreProperties>
</file>